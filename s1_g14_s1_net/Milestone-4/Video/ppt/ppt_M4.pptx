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3" d="100"/>
          <a:sy n="213" d="100"/>
        </p:scale>
        <p:origin x="1842" y="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2EF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2EF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2EF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2EF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69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82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E5CF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69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75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30763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E5CF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69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300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3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9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530" y="240433"/>
            <a:ext cx="4457065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2EF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830" y="742042"/>
            <a:ext cx="4295775" cy="1240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-12700" y="3367039"/>
            <a:ext cx="1525905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11143" y="3367039"/>
            <a:ext cx="46736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48555" y="3367039"/>
            <a:ext cx="2159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slide" Target="slide12.xml"/><Relationship Id="rId4" Type="http://schemas.openxmlformats.org/officeDocument/2006/relationships/image" Target="../media/image2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slide" Target="slide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slide" Target="slide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29" y="177177"/>
            <a:ext cx="4507865" cy="529590"/>
            <a:chOff x="75729" y="177177"/>
            <a:chExt cx="4507865" cy="529590"/>
          </a:xfrm>
        </p:grpSpPr>
        <p:sp>
          <p:nvSpPr>
            <p:cNvPr id="3" name="object 3"/>
            <p:cNvSpPr/>
            <p:nvPr/>
          </p:nvSpPr>
          <p:spPr>
            <a:xfrm>
              <a:off x="75729" y="177177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530" y="240433"/>
              <a:ext cx="4457065" cy="466090"/>
            </a:xfrm>
            <a:custGeom>
              <a:avLst/>
              <a:gdLst/>
              <a:ahLst/>
              <a:cxnLst/>
              <a:rect l="l" t="t" r="r" b="b"/>
              <a:pathLst>
                <a:path w="4457065" h="466090">
                  <a:moveTo>
                    <a:pt x="4456607" y="0"/>
                  </a:moveTo>
                  <a:lnTo>
                    <a:pt x="0" y="0"/>
                  </a:lnTo>
                  <a:lnTo>
                    <a:pt x="0" y="466093"/>
                  </a:lnTo>
                  <a:lnTo>
                    <a:pt x="4456607" y="466093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9" y="221596"/>
              <a:ext cx="4457065" cy="434340"/>
            </a:xfrm>
            <a:custGeom>
              <a:avLst/>
              <a:gdLst/>
              <a:ahLst/>
              <a:cxnLst/>
              <a:rect l="l" t="t" r="r" b="b"/>
              <a:pathLst>
                <a:path w="4457065" h="434340">
                  <a:moveTo>
                    <a:pt x="4456606" y="0"/>
                  </a:moveTo>
                  <a:lnTo>
                    <a:pt x="0" y="0"/>
                  </a:lnTo>
                  <a:lnTo>
                    <a:pt x="0" y="383329"/>
                  </a:lnTo>
                  <a:lnTo>
                    <a:pt x="4008" y="403054"/>
                  </a:lnTo>
                  <a:lnTo>
                    <a:pt x="14922" y="419207"/>
                  </a:lnTo>
                  <a:lnTo>
                    <a:pt x="31075" y="430121"/>
                  </a:lnTo>
                  <a:lnTo>
                    <a:pt x="50800" y="434129"/>
                  </a:lnTo>
                  <a:lnTo>
                    <a:pt x="4405806" y="434129"/>
                  </a:lnTo>
                  <a:lnTo>
                    <a:pt x="4425531" y="430121"/>
                  </a:lnTo>
                  <a:lnTo>
                    <a:pt x="4441684" y="419207"/>
                  </a:lnTo>
                  <a:lnTo>
                    <a:pt x="4452598" y="403054"/>
                  </a:lnTo>
                  <a:lnTo>
                    <a:pt x="4456606" y="383329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445"/>
              </a:spcBef>
            </a:pPr>
            <a:r>
              <a:rPr sz="1400" b="0" spc="-40" dirty="0">
                <a:latin typeface="Tahoma"/>
                <a:cs typeface="Tahoma"/>
              </a:rPr>
              <a:t>Handover</a:t>
            </a:r>
            <a:r>
              <a:rPr sz="1400" b="0" spc="-55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Probability</a:t>
            </a:r>
            <a:r>
              <a:rPr sz="1400" b="0" spc="-55" dirty="0">
                <a:latin typeface="Tahoma"/>
                <a:cs typeface="Tahoma"/>
              </a:rPr>
              <a:t> </a:t>
            </a:r>
            <a:r>
              <a:rPr sz="1400" b="0" dirty="0">
                <a:latin typeface="Tahoma"/>
                <a:cs typeface="Tahoma"/>
              </a:rPr>
              <a:t>in</a:t>
            </a:r>
            <a:r>
              <a:rPr sz="1400" b="0" spc="-55" dirty="0">
                <a:latin typeface="Tahoma"/>
                <a:cs typeface="Tahoma"/>
              </a:rPr>
              <a:t> </a:t>
            </a:r>
            <a:r>
              <a:rPr sz="1400" b="0" spc="-25" dirty="0">
                <a:latin typeface="Tahoma"/>
                <a:cs typeface="Tahoma"/>
              </a:rPr>
              <a:t>Drone</a:t>
            </a:r>
            <a:r>
              <a:rPr sz="1400" b="0" spc="-55" dirty="0">
                <a:latin typeface="Tahoma"/>
                <a:cs typeface="Tahoma"/>
              </a:rPr>
              <a:t> </a:t>
            </a:r>
            <a:r>
              <a:rPr sz="1400" b="0" spc="-20" dirty="0">
                <a:latin typeface="Tahoma"/>
                <a:cs typeface="Tahoma"/>
              </a:rPr>
              <a:t>Cellular</a:t>
            </a:r>
            <a:r>
              <a:rPr sz="1400" b="0" spc="-55" dirty="0">
                <a:latin typeface="Tahoma"/>
                <a:cs typeface="Tahoma"/>
              </a:rPr>
              <a:t> </a:t>
            </a:r>
            <a:r>
              <a:rPr sz="1400" b="0" spc="-10" dirty="0">
                <a:latin typeface="Tahoma"/>
                <a:cs typeface="Tahoma"/>
              </a:rPr>
              <a:t>Networks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3939" y="994168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7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2816" y="994168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75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9900" y="781552"/>
            <a:ext cx="2029460" cy="159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204470" indent="41275" algn="ctr">
              <a:lnSpc>
                <a:spcPct val="149400"/>
              </a:lnSpc>
              <a:spcBef>
                <a:spcPts val="100"/>
              </a:spcBef>
            </a:pPr>
            <a:r>
              <a:rPr sz="1000" spc="-55" dirty="0">
                <a:latin typeface="Arial MT"/>
                <a:cs typeface="Arial MT"/>
              </a:rPr>
              <a:t>Team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Name: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b="1" spc="-10" dirty="0">
                <a:latin typeface="Arial"/>
                <a:cs typeface="Arial"/>
              </a:rPr>
              <a:t>s1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g14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net </a:t>
            </a:r>
            <a:r>
              <a:rPr sz="1000" b="1" spc="-40" dirty="0">
                <a:latin typeface="Arial"/>
                <a:cs typeface="Arial"/>
              </a:rPr>
              <a:t>Rishika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Bothra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(AU2544006)</a:t>
            </a:r>
            <a:endParaRPr sz="1000">
              <a:latin typeface="Arial MT"/>
              <a:cs typeface="Arial MT"/>
            </a:endParaRPr>
          </a:p>
          <a:p>
            <a:pPr marL="125095" marR="117475" algn="ctr">
              <a:lnSpc>
                <a:spcPts val="1200"/>
              </a:lnSpc>
              <a:spcBef>
                <a:spcPts val="35"/>
              </a:spcBef>
            </a:pPr>
            <a:r>
              <a:rPr sz="1000" b="1" spc="-30" dirty="0">
                <a:latin typeface="Arial"/>
                <a:cs typeface="Arial"/>
              </a:rPr>
              <a:t>Bhavyam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Rajguru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(AU2440249) </a:t>
            </a:r>
            <a:r>
              <a:rPr sz="1000" b="1" spc="-30" dirty="0">
                <a:latin typeface="Arial"/>
                <a:cs typeface="Arial"/>
              </a:rPr>
              <a:t>Vansh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Lilani </a:t>
            </a:r>
            <a:r>
              <a:rPr sz="1000" spc="-10" dirty="0">
                <a:latin typeface="Arial MT"/>
                <a:cs typeface="Arial MT"/>
              </a:rPr>
              <a:t>(AU2320146) </a:t>
            </a:r>
            <a:r>
              <a:rPr sz="1000" b="1" spc="-35" dirty="0">
                <a:latin typeface="Arial"/>
                <a:cs typeface="Arial"/>
              </a:rPr>
              <a:t>Fagun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Rathod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(AU2440111)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145"/>
              </a:lnSpc>
            </a:pPr>
            <a:r>
              <a:rPr sz="1000" b="1" spc="-30" dirty="0">
                <a:latin typeface="Arial"/>
                <a:cs typeface="Arial"/>
              </a:rPr>
              <a:t>Aniruddha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Wairagade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(AU2440101)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00">
              <a:latin typeface="Arial MT"/>
              <a:cs typeface="Arial MT"/>
            </a:endParaRPr>
          </a:p>
          <a:p>
            <a:pPr marL="30480" algn="ctr">
              <a:lnSpc>
                <a:spcPts val="819"/>
              </a:lnSpc>
            </a:pPr>
            <a:r>
              <a:rPr sz="700" dirty="0">
                <a:latin typeface="Arial MT"/>
                <a:cs typeface="Arial MT"/>
              </a:rPr>
              <a:t>Instructor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Name:</a:t>
            </a:r>
            <a:r>
              <a:rPr sz="700" spc="110" dirty="0">
                <a:latin typeface="Arial MT"/>
                <a:cs typeface="Arial MT"/>
              </a:rPr>
              <a:t> </a:t>
            </a:r>
            <a:r>
              <a:rPr sz="700" b="1" dirty="0">
                <a:latin typeface="Arial"/>
                <a:cs typeface="Arial"/>
              </a:rPr>
              <a:t>Prof.</a:t>
            </a:r>
            <a:r>
              <a:rPr sz="700" b="1" spc="12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Dhaval</a:t>
            </a:r>
            <a:r>
              <a:rPr sz="700" b="1" spc="4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Patel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795"/>
              </a:lnSpc>
            </a:pPr>
            <a:r>
              <a:rPr sz="700" spc="-20" dirty="0">
                <a:latin typeface="Arial MT"/>
                <a:cs typeface="Arial MT"/>
              </a:rPr>
              <a:t>Assigned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TA: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b="1" spc="-30" dirty="0">
                <a:latin typeface="Arial"/>
                <a:cs typeface="Arial"/>
              </a:rPr>
              <a:t>Rushi</a:t>
            </a:r>
            <a:r>
              <a:rPr sz="700" b="1" spc="4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Moliya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819"/>
              </a:lnSpc>
            </a:pPr>
            <a:r>
              <a:rPr sz="700" dirty="0">
                <a:latin typeface="Arial MT"/>
                <a:cs typeface="Arial MT"/>
              </a:rPr>
              <a:t>School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Engineering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Applied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Science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004" y="2444297"/>
            <a:ext cx="1079884" cy="4200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75345" y="3028040"/>
            <a:ext cx="857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 MT"/>
                <a:cs typeface="Arial MT"/>
              </a:rPr>
              <a:t>March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29,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1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6973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Project</a:t>
            </a: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Context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and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Motivation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Handover</a:t>
            </a:r>
            <a:r>
              <a:rPr spc="5" dirty="0"/>
              <a:t> </a:t>
            </a:r>
            <a:r>
              <a:rPr spc="-30" dirty="0"/>
              <a:t>Probability</a:t>
            </a:r>
            <a:r>
              <a:rPr spc="10" dirty="0"/>
              <a:t> </a:t>
            </a:r>
            <a:r>
              <a:rPr dirty="0"/>
              <a:t>in Drone</a:t>
            </a:r>
            <a:r>
              <a:rPr spc="10" dirty="0"/>
              <a:t> </a:t>
            </a:r>
            <a:r>
              <a:rPr spc="-30" dirty="0"/>
              <a:t>Cellular</a:t>
            </a:r>
            <a:r>
              <a:rPr spc="5" dirty="0"/>
              <a:t> </a:t>
            </a:r>
            <a:r>
              <a:rPr spc="-30" dirty="0"/>
              <a:t>Networks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101306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442923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118322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459951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801569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3830" y="796461"/>
            <a:ext cx="4380230" cy="22574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Project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Domain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Objectives</a:t>
            </a:r>
            <a:endParaRPr sz="1000">
              <a:latin typeface="Arial"/>
              <a:cs typeface="Arial"/>
            </a:endParaRPr>
          </a:p>
          <a:p>
            <a:pPr marL="265430" marR="76200">
              <a:lnSpc>
                <a:spcPct val="100000"/>
              </a:lnSpc>
              <a:spcBef>
                <a:spcPts val="295"/>
              </a:spcBef>
            </a:pPr>
            <a:r>
              <a:rPr sz="1000" spc="-50" dirty="0">
                <a:latin typeface="Arial MT"/>
                <a:cs typeface="Arial MT"/>
              </a:rPr>
              <a:t>Analyzes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cellular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network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where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mobile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Base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Stations</a:t>
            </a:r>
            <a:r>
              <a:rPr sz="1000" spc="-10" dirty="0">
                <a:latin typeface="Arial MT"/>
                <a:cs typeface="Arial MT"/>
              </a:rPr>
              <a:t> (DBSs)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serve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stationary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ground</a:t>
            </a:r>
            <a:r>
              <a:rPr sz="1000" spc="-10" dirty="0">
                <a:latin typeface="Arial MT"/>
                <a:cs typeface="Arial MT"/>
              </a:rPr>
              <a:t> user.</a:t>
            </a:r>
            <a:endParaRPr sz="1000">
              <a:latin typeface="Arial MT"/>
              <a:cs typeface="Arial MT"/>
            </a:endParaRPr>
          </a:p>
          <a:p>
            <a:pPr marL="265430" marR="224154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Objective: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Evaluate </a:t>
            </a:r>
            <a:r>
              <a:rPr sz="1000" spc="-25" dirty="0">
                <a:latin typeface="Arial MT"/>
                <a:cs typeface="Arial MT"/>
              </a:rPr>
              <a:t>how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mobility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parameter</a:t>
            </a:r>
            <a:r>
              <a:rPr sz="1000" spc="-30" dirty="0">
                <a:latin typeface="Arial MT"/>
                <a:cs typeface="Arial MT"/>
              </a:rPr>
              <a:t> variations </a:t>
            </a:r>
            <a:r>
              <a:rPr sz="1000" spc="-10" dirty="0">
                <a:latin typeface="Arial MT"/>
                <a:cs typeface="Arial MT"/>
              </a:rPr>
              <a:t>trigger </a:t>
            </a:r>
            <a:r>
              <a:rPr sz="1000" spc="-30" dirty="0">
                <a:latin typeface="Arial MT"/>
                <a:cs typeface="Arial MT"/>
              </a:rPr>
              <a:t>network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handovers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over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time.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Role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Uncertainty</a:t>
            </a:r>
            <a:endParaRPr sz="1000">
              <a:latin typeface="Arial"/>
              <a:cs typeface="Arial"/>
            </a:endParaRPr>
          </a:p>
          <a:p>
            <a:pPr marL="265430" marR="43180">
              <a:lnSpc>
                <a:spcPct val="100000"/>
              </a:lnSpc>
              <a:spcBef>
                <a:spcPts val="295"/>
              </a:spcBef>
            </a:pPr>
            <a:r>
              <a:rPr sz="1000" spc="-55" dirty="0">
                <a:latin typeface="Arial MT"/>
                <a:cs typeface="Arial MT"/>
              </a:rPr>
              <a:t>Real-</a:t>
            </a:r>
            <a:r>
              <a:rPr sz="1000" spc="-25" dirty="0">
                <a:latin typeface="Arial MT"/>
                <a:cs typeface="Arial MT"/>
              </a:rPr>
              <a:t>world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networks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-10" dirty="0">
                <a:latin typeface="Arial MT"/>
                <a:cs typeface="Arial MT"/>
              </a:rPr>
              <a:t> highly </a:t>
            </a:r>
            <a:r>
              <a:rPr sz="1000" spc="-30" dirty="0">
                <a:latin typeface="Arial MT"/>
                <a:cs typeface="Arial MT"/>
              </a:rPr>
              <a:t>dynamic;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spc="-10" dirty="0">
                <a:latin typeface="Arial MT"/>
                <a:cs typeface="Arial MT"/>
              </a:rPr>
              <a:t> like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density, </a:t>
            </a:r>
            <a:r>
              <a:rPr sz="1000" spc="-20" dirty="0">
                <a:latin typeface="Arial MT"/>
                <a:cs typeface="Arial MT"/>
              </a:rPr>
              <a:t>operating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speeds,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distances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change</a:t>
            </a:r>
            <a:r>
              <a:rPr sz="1000" dirty="0">
                <a:latin typeface="Arial MT"/>
                <a:cs typeface="Arial MT"/>
              </a:rPr>
              <a:t> with </a:t>
            </a:r>
            <a:r>
              <a:rPr sz="1000" spc="-45" dirty="0">
                <a:latin typeface="Arial MT"/>
                <a:cs typeface="Arial MT"/>
              </a:rPr>
              <a:t>every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deployment.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Arial MT"/>
                <a:cs typeface="Arial MT"/>
              </a:rPr>
              <a:t>Relying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purely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deterministic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model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only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confirms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mathematical</a:t>
            </a:r>
            <a:r>
              <a:rPr sz="1000" spc="-20" dirty="0">
                <a:latin typeface="Arial MT"/>
                <a:cs typeface="Arial MT"/>
              </a:rPr>
              <a:t> theory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at </a:t>
            </a:r>
            <a:r>
              <a:rPr sz="1000" spc="-45" dirty="0">
                <a:latin typeface="Arial MT"/>
                <a:cs typeface="Arial MT"/>
              </a:rPr>
              <a:t>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specific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set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10" dirty="0">
                <a:latin typeface="Arial MT"/>
                <a:cs typeface="Arial MT"/>
              </a:rPr>
              <a:t> values.</a:t>
            </a:r>
            <a:endParaRPr sz="1000">
              <a:latin typeface="Arial MT"/>
              <a:cs typeface="Arial MT"/>
            </a:endParaRPr>
          </a:p>
          <a:p>
            <a:pPr marL="265430" marR="450215">
              <a:lnSpc>
                <a:spcPct val="100000"/>
              </a:lnSpc>
              <a:spcBef>
                <a:spcPts val="290"/>
              </a:spcBef>
            </a:pPr>
            <a:r>
              <a:rPr sz="1000" spc="-25" dirty="0">
                <a:latin typeface="Arial MT"/>
                <a:cs typeface="Arial MT"/>
              </a:rPr>
              <a:t>Incorporating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uncertainty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ensures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our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system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models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realistic,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diverse </a:t>
            </a:r>
            <a:r>
              <a:rPr sz="1000" spc="-60" dirty="0">
                <a:latin typeface="Arial MT"/>
                <a:cs typeface="Arial MT"/>
              </a:rPr>
              <a:t>scenarios</a:t>
            </a:r>
            <a:r>
              <a:rPr sz="1000" spc="-10" dirty="0">
                <a:latin typeface="Arial MT"/>
                <a:cs typeface="Arial MT"/>
              </a:rPr>
              <a:t> rather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single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idealized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state.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7119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Deterministic</a:t>
            </a:r>
            <a:r>
              <a:rPr sz="900" b="1" spc="3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A0A0A0"/>
                </a:solidFill>
                <a:latin typeface="Arial"/>
                <a:cs typeface="Arial"/>
              </a:rPr>
              <a:t>Baseline</a:t>
            </a:r>
            <a:r>
              <a:rPr sz="900" b="1" spc="3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Overview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207591"/>
            <a:ext cx="1318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Milestone</a:t>
            </a:r>
            <a:r>
              <a:rPr spc="50" dirty="0"/>
              <a:t> </a:t>
            </a:r>
            <a:r>
              <a:rPr dirty="0"/>
              <a:t>3</a:t>
            </a:r>
            <a:r>
              <a:rPr spc="50" dirty="0"/>
              <a:t> </a:t>
            </a:r>
            <a:r>
              <a:rPr spc="-35" dirty="0"/>
              <a:t>Recap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146137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335925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677543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941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395"/>
              </a:spcBef>
            </a:pPr>
            <a:r>
              <a:rPr dirty="0"/>
              <a:t>The</a:t>
            </a:r>
            <a:r>
              <a:rPr spc="50" dirty="0"/>
              <a:t> </a:t>
            </a:r>
            <a:r>
              <a:rPr spc="60" dirty="0"/>
              <a:t>M3</a:t>
            </a:r>
            <a:r>
              <a:rPr spc="50" dirty="0"/>
              <a:t> </a:t>
            </a:r>
            <a:r>
              <a:rPr spc="-10" dirty="0"/>
              <a:t>Deterministic</a:t>
            </a:r>
            <a:r>
              <a:rPr spc="55" dirty="0"/>
              <a:t> </a:t>
            </a:r>
            <a:r>
              <a:rPr spc="-10" dirty="0"/>
              <a:t>Setup</a:t>
            </a:r>
          </a:p>
          <a:p>
            <a:pPr marL="264795">
              <a:lnSpc>
                <a:spcPct val="100000"/>
              </a:lnSpc>
              <a:spcBef>
                <a:spcPts val="295"/>
              </a:spcBef>
            </a:pPr>
            <a:r>
              <a:rPr b="0" spc="-35" dirty="0">
                <a:latin typeface="Arial MT"/>
                <a:cs typeface="Arial MT"/>
              </a:rPr>
              <a:t>Modeled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DBS</a:t>
            </a:r>
            <a:r>
              <a:rPr b="0" dirty="0">
                <a:latin typeface="Arial MT"/>
                <a:cs typeface="Arial MT"/>
              </a:rPr>
              <a:t> initial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positions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b="0" spc="-30" dirty="0">
                <a:latin typeface="Arial MT"/>
                <a:cs typeface="Arial MT"/>
              </a:rPr>
              <a:t>using</a:t>
            </a:r>
            <a:r>
              <a:rPr b="0" dirty="0">
                <a:latin typeface="Arial MT"/>
                <a:cs typeface="Arial MT"/>
              </a:rPr>
              <a:t> a </a:t>
            </a:r>
            <a:r>
              <a:rPr b="0" spc="-55" dirty="0">
                <a:latin typeface="Arial MT"/>
                <a:cs typeface="Arial MT"/>
              </a:rPr>
              <a:t>Poisson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Point </a:t>
            </a:r>
            <a:r>
              <a:rPr b="0" spc="-65" dirty="0">
                <a:latin typeface="Arial MT"/>
                <a:cs typeface="Arial MT"/>
              </a:rPr>
              <a:t>Process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(PPP).</a:t>
            </a:r>
          </a:p>
          <a:p>
            <a:pPr marL="264795" marR="30480">
              <a:lnSpc>
                <a:spcPct val="100000"/>
              </a:lnSpc>
              <a:spcBef>
                <a:spcPts val="290"/>
              </a:spcBef>
            </a:pPr>
            <a:r>
              <a:rPr spc="-10" dirty="0"/>
              <a:t>Same</a:t>
            </a:r>
            <a:r>
              <a:rPr spc="40" dirty="0"/>
              <a:t> </a:t>
            </a:r>
            <a:r>
              <a:rPr spc="-25" dirty="0"/>
              <a:t>Speed</a:t>
            </a:r>
            <a:r>
              <a:rPr spc="40" dirty="0"/>
              <a:t> </a:t>
            </a:r>
            <a:r>
              <a:rPr dirty="0"/>
              <a:t>Model</a:t>
            </a:r>
            <a:r>
              <a:rPr spc="45" dirty="0"/>
              <a:t> </a:t>
            </a:r>
            <a:r>
              <a:rPr dirty="0"/>
              <a:t>(SSM):</a:t>
            </a:r>
            <a:r>
              <a:rPr spc="10" dirty="0"/>
              <a:t> </a:t>
            </a:r>
            <a:r>
              <a:rPr b="0" dirty="0">
                <a:latin typeface="Arial MT"/>
                <a:cs typeface="Arial MT"/>
              </a:rPr>
              <a:t>All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drones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45" dirty="0">
                <a:latin typeface="Arial MT"/>
                <a:cs typeface="Arial MT"/>
              </a:rPr>
              <a:t>moved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straight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35" dirty="0">
                <a:latin typeface="Arial MT"/>
                <a:cs typeface="Arial MT"/>
              </a:rPr>
              <a:t>lines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at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fixed, </a:t>
            </a:r>
            <a:r>
              <a:rPr b="0" spc="-20" dirty="0">
                <a:latin typeface="Arial MT"/>
                <a:cs typeface="Arial MT"/>
              </a:rPr>
              <a:t>constant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speed.</a:t>
            </a:r>
          </a:p>
          <a:p>
            <a:pPr marL="264795" marR="274320">
              <a:lnSpc>
                <a:spcPct val="100000"/>
              </a:lnSpc>
              <a:spcBef>
                <a:spcPts val="290"/>
              </a:spcBef>
            </a:pPr>
            <a:r>
              <a:rPr spc="-20" dirty="0"/>
              <a:t>Fixed</a:t>
            </a:r>
            <a:r>
              <a:rPr spc="15" dirty="0"/>
              <a:t> </a:t>
            </a:r>
            <a:r>
              <a:rPr spc="-25" dirty="0"/>
              <a:t>Parameters:</a:t>
            </a:r>
            <a:r>
              <a:rPr spc="125" dirty="0"/>
              <a:t> </a:t>
            </a:r>
            <a:r>
              <a:rPr b="0" spc="-30" dirty="0">
                <a:latin typeface="Arial MT"/>
                <a:cs typeface="Arial MT"/>
              </a:rPr>
              <a:t>Density</a:t>
            </a:r>
            <a:r>
              <a:rPr b="0" spc="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(1</a:t>
            </a:r>
            <a:r>
              <a:rPr b="0" i="1" spc="-10" dirty="0">
                <a:latin typeface="Calibri"/>
                <a:cs typeface="Calibri"/>
              </a:rPr>
              <a:t>.</a:t>
            </a:r>
            <a:r>
              <a:rPr b="0" spc="-10" dirty="0">
                <a:latin typeface="Arial MT"/>
                <a:cs typeface="Arial MT"/>
              </a:rPr>
              <a:t>0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i="1" spc="-50" dirty="0">
                <a:latin typeface="Verdana"/>
                <a:cs typeface="Verdana"/>
              </a:rPr>
              <a:t>×</a:t>
            </a:r>
            <a:r>
              <a:rPr b="0" i="1" spc="-130" dirty="0">
                <a:latin typeface="Verdana"/>
                <a:cs typeface="Verdana"/>
              </a:rPr>
              <a:t> </a:t>
            </a:r>
            <a:r>
              <a:rPr b="0" dirty="0">
                <a:latin typeface="Arial MT"/>
                <a:cs typeface="Arial MT"/>
              </a:rPr>
              <a:t>10</a:t>
            </a:r>
            <a:r>
              <a:rPr sz="1050" b="0" baseline="27777" dirty="0">
                <a:latin typeface="Lucida Sans Unicode"/>
                <a:cs typeface="Lucida Sans Unicode"/>
              </a:rPr>
              <a:t>−</a:t>
            </a:r>
            <a:r>
              <a:rPr sz="1050" b="0" baseline="27777" dirty="0">
                <a:latin typeface="Arial MT"/>
                <a:cs typeface="Arial MT"/>
              </a:rPr>
              <a:t>6</a:t>
            </a:r>
            <a:r>
              <a:rPr sz="1050" b="0" spc="240" baseline="27777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DBS/m</a:t>
            </a:r>
            <a:r>
              <a:rPr sz="1050" b="0" baseline="39682" dirty="0">
                <a:latin typeface="Arial MT"/>
                <a:cs typeface="Arial MT"/>
              </a:rPr>
              <a:t>2</a:t>
            </a:r>
            <a:r>
              <a:rPr sz="1000" b="0" dirty="0">
                <a:latin typeface="Arial MT"/>
                <a:cs typeface="Arial MT"/>
              </a:rPr>
              <a:t>),</a:t>
            </a:r>
            <a:r>
              <a:rPr sz="1000" b="0" spc="20" dirty="0">
                <a:latin typeface="Arial MT"/>
                <a:cs typeface="Arial MT"/>
              </a:rPr>
              <a:t> </a:t>
            </a:r>
            <a:r>
              <a:rPr sz="1000" b="0" spc="-70" dirty="0">
                <a:latin typeface="Arial MT"/>
                <a:cs typeface="Arial MT"/>
              </a:rPr>
              <a:t>Speed</a:t>
            </a:r>
            <a:r>
              <a:rPr sz="1000" b="0" spc="25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(45</a:t>
            </a:r>
            <a:r>
              <a:rPr sz="1000" b="0" spc="2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</a:rPr>
              <a:t>km/h), </a:t>
            </a:r>
            <a:r>
              <a:rPr sz="1000" b="0" spc="-40" dirty="0">
                <a:latin typeface="Arial MT"/>
                <a:cs typeface="Arial MT"/>
              </a:rPr>
              <a:t>Exclusion</a:t>
            </a:r>
            <a:r>
              <a:rPr sz="1000" b="0" spc="-20" dirty="0">
                <a:latin typeface="Arial MT"/>
                <a:cs typeface="Arial MT"/>
              </a:rPr>
              <a:t> </a:t>
            </a:r>
            <a:r>
              <a:rPr sz="1000" b="0" spc="-35" dirty="0">
                <a:latin typeface="Arial MT"/>
                <a:cs typeface="Arial MT"/>
              </a:rPr>
              <a:t>radius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</a:rPr>
              <a:t>(500</a:t>
            </a:r>
            <a:r>
              <a:rPr sz="1000" b="0" spc="-20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m),</a:t>
            </a:r>
            <a:r>
              <a:rPr sz="1000" b="0" spc="-20" dirty="0">
                <a:latin typeface="Arial MT"/>
                <a:cs typeface="Arial MT"/>
              </a:rPr>
              <a:t> and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dirty="0">
                <a:latin typeface="Arial MT"/>
                <a:cs typeface="Arial MT"/>
              </a:rPr>
              <a:t>Time</a:t>
            </a:r>
            <a:r>
              <a:rPr sz="1000" b="0" spc="-20" dirty="0">
                <a:latin typeface="Arial MT"/>
                <a:cs typeface="Arial MT"/>
              </a:rPr>
              <a:t> </a:t>
            </a:r>
            <a:r>
              <a:rPr sz="1000" b="0" spc="-30" dirty="0">
                <a:latin typeface="Arial MT"/>
                <a:cs typeface="Arial MT"/>
              </a:rPr>
              <a:t>window</a:t>
            </a:r>
            <a:r>
              <a:rPr sz="1000" b="0" spc="-15" dirty="0">
                <a:latin typeface="Arial MT"/>
                <a:cs typeface="Arial MT"/>
              </a:rPr>
              <a:t> </a:t>
            </a:r>
            <a:r>
              <a:rPr sz="1000" b="0" spc="-10" dirty="0">
                <a:latin typeface="Arial MT"/>
                <a:cs typeface="Arial MT"/>
              </a:rPr>
              <a:t>(400</a:t>
            </a:r>
            <a:r>
              <a:rPr sz="1000" b="0" spc="-20" dirty="0">
                <a:latin typeface="Arial MT"/>
                <a:cs typeface="Arial MT"/>
              </a:rPr>
              <a:t> </a:t>
            </a:r>
            <a:r>
              <a:rPr sz="1000" b="0" spc="-25" dirty="0">
                <a:latin typeface="Arial MT"/>
                <a:cs typeface="Arial MT"/>
              </a:rPr>
              <a:t>s).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729" y="2206357"/>
            <a:ext cx="4457065" cy="198755"/>
          </a:xfrm>
          <a:custGeom>
            <a:avLst/>
            <a:gdLst/>
            <a:ahLst/>
            <a:cxnLst/>
            <a:rect l="l" t="t" r="r" b="b"/>
            <a:pathLst>
              <a:path w="4457065" h="198755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56606" y="198367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" y="2234818"/>
            <a:ext cx="26060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2EFEB"/>
                </a:solidFill>
                <a:latin typeface="Tahoma"/>
                <a:cs typeface="Tahoma"/>
              </a:rPr>
              <a:t>Limitations</a:t>
            </a:r>
            <a:r>
              <a:rPr sz="1200" spc="-35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2EFEB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2EFEB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F2EFEB"/>
                </a:solidFill>
                <a:latin typeface="Tahoma"/>
                <a:cs typeface="Tahoma"/>
              </a:rPr>
              <a:t> Deterministic </a:t>
            </a:r>
            <a:r>
              <a:rPr sz="1200" spc="-55" dirty="0">
                <a:solidFill>
                  <a:srgbClr val="F2EFEB"/>
                </a:solidFill>
                <a:latin typeface="Tahoma"/>
                <a:cs typeface="Tahoma"/>
              </a:rPr>
              <a:t>Approach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29" y="2263293"/>
            <a:ext cx="4507865" cy="748030"/>
            <a:chOff x="75729" y="2263293"/>
            <a:chExt cx="4507865" cy="74803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29" y="2392070"/>
              <a:ext cx="4456607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6530" y="2263293"/>
              <a:ext cx="4457065" cy="748030"/>
            </a:xfrm>
            <a:custGeom>
              <a:avLst/>
              <a:gdLst/>
              <a:ahLst/>
              <a:cxnLst/>
              <a:rect l="l" t="t" r="r" b="b"/>
              <a:pathLst>
                <a:path w="4457065" h="748030">
                  <a:moveTo>
                    <a:pt x="4456607" y="0"/>
                  </a:moveTo>
                  <a:lnTo>
                    <a:pt x="0" y="0"/>
                  </a:lnTo>
                  <a:lnTo>
                    <a:pt x="0" y="747686"/>
                  </a:lnTo>
                  <a:lnTo>
                    <a:pt x="4456607" y="747686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729" y="2436355"/>
              <a:ext cx="4457065" cy="523875"/>
            </a:xfrm>
            <a:custGeom>
              <a:avLst/>
              <a:gdLst/>
              <a:ahLst/>
              <a:cxnLst/>
              <a:rect l="l" t="t" r="r" b="b"/>
              <a:pathLst>
                <a:path w="4457065" h="523875">
                  <a:moveTo>
                    <a:pt x="4456606" y="0"/>
                  </a:moveTo>
                  <a:lnTo>
                    <a:pt x="0" y="0"/>
                  </a:lnTo>
                  <a:lnTo>
                    <a:pt x="0" y="473023"/>
                  </a:lnTo>
                  <a:lnTo>
                    <a:pt x="4008" y="492748"/>
                  </a:lnTo>
                  <a:lnTo>
                    <a:pt x="14922" y="508901"/>
                  </a:lnTo>
                  <a:lnTo>
                    <a:pt x="31075" y="519815"/>
                  </a:lnTo>
                  <a:lnTo>
                    <a:pt x="50800" y="523824"/>
                  </a:lnTo>
                  <a:lnTo>
                    <a:pt x="4405806" y="523824"/>
                  </a:lnTo>
                  <a:lnTo>
                    <a:pt x="4425531" y="519815"/>
                  </a:lnTo>
                  <a:lnTo>
                    <a:pt x="4441684" y="508901"/>
                  </a:lnTo>
                  <a:lnTo>
                    <a:pt x="4452598" y="492748"/>
                  </a:lnTo>
                  <a:lnTo>
                    <a:pt x="4456606" y="473023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2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2487396"/>
              <a:ext cx="59601" cy="596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705" y="2677185"/>
              <a:ext cx="59601" cy="596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6530" y="2263293"/>
            <a:ext cx="445706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2729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deterministic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baseline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only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tests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one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specific,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hand-</a:t>
            </a:r>
            <a:r>
              <a:rPr sz="1000" spc="-40" dirty="0">
                <a:latin typeface="Arial MT"/>
                <a:cs typeface="Arial MT"/>
              </a:rPr>
              <a:t>picked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setting.</a:t>
            </a:r>
            <a:endParaRPr sz="1000" dirty="0">
              <a:latin typeface="Arial MT"/>
              <a:cs typeface="Arial MT"/>
            </a:endParaRPr>
          </a:p>
          <a:p>
            <a:pPr marL="252729" marR="94615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Arial MT"/>
                <a:cs typeface="Arial MT"/>
              </a:rPr>
              <a:t>It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fails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prove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if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underlying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stochastic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geometry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theory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holds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true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across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10" dirty="0">
                <a:latin typeface="Arial MT"/>
                <a:cs typeface="Arial MT"/>
              </a:rPr>
              <a:t>natural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variations</a:t>
            </a:r>
            <a:r>
              <a:rPr sz="1000" dirty="0">
                <a:latin typeface="Arial MT"/>
                <a:cs typeface="Arial MT"/>
              </a:rPr>
              <a:t> of </a:t>
            </a:r>
            <a:r>
              <a:rPr sz="1000" spc="-40" dirty="0">
                <a:latin typeface="Arial MT"/>
                <a:cs typeface="Arial MT"/>
              </a:rPr>
              <a:t>real-</a:t>
            </a:r>
            <a:r>
              <a:rPr sz="1000" spc="-25" dirty="0">
                <a:latin typeface="Arial MT"/>
                <a:cs typeface="Arial MT"/>
              </a:rPr>
              <a:t>world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deployments.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20" name="object 2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3785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0" dirty="0">
                <a:solidFill>
                  <a:srgbClr val="A0A0A0"/>
                </a:solidFill>
                <a:latin typeface="Arial"/>
                <a:cs typeface="Arial"/>
              </a:rPr>
              <a:t>System</a:t>
            </a:r>
            <a:r>
              <a:rPr sz="900" b="1" spc="1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Pipeline</a:t>
            </a:r>
            <a:r>
              <a:rPr sz="900" b="1" spc="1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Overview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Simulation</a:t>
            </a:r>
            <a:r>
              <a:rPr spc="35" dirty="0"/>
              <a:t> </a:t>
            </a:r>
            <a:r>
              <a:rPr spc="-25" dirty="0"/>
              <a:t>Architecture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234401"/>
            <a:ext cx="59601" cy="596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14995" y="1294003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576019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2069465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28" y="2562910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53" y="929557"/>
            <a:ext cx="2421890" cy="18859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30" dirty="0">
                <a:latin typeface="Arial"/>
                <a:cs typeface="Arial"/>
              </a:rPr>
              <a:t>End-</a:t>
            </a:r>
            <a:r>
              <a:rPr sz="1000" b="1" spc="-25" dirty="0">
                <a:latin typeface="Arial"/>
                <a:cs typeface="Arial"/>
              </a:rPr>
              <a:t>to-</a:t>
            </a:r>
            <a:r>
              <a:rPr sz="1000" b="1" dirty="0">
                <a:latin typeface="Arial"/>
                <a:cs typeface="Arial"/>
              </a:rPr>
              <a:t>End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Pipeline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ts val="1200"/>
              </a:lnSpc>
              <a:spcBef>
                <a:spcPts val="295"/>
              </a:spcBef>
            </a:pPr>
            <a:r>
              <a:rPr sz="1000" b="1" spc="-10" dirty="0">
                <a:latin typeface="Arial"/>
                <a:cs typeface="Arial"/>
              </a:rPr>
              <a:t>Initialization:</a:t>
            </a:r>
            <a:r>
              <a:rPr sz="1000" b="1" spc="310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randomised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spc="100" dirty="0">
                <a:latin typeface="Calibri"/>
                <a:cs typeface="Calibri"/>
              </a:rPr>
              <a:t>config.py</a:t>
            </a:r>
            <a:endParaRPr sz="1000">
              <a:latin typeface="Calibri"/>
              <a:cs typeface="Calibri"/>
            </a:endParaRPr>
          </a:p>
          <a:p>
            <a:pPr marL="265430">
              <a:lnSpc>
                <a:spcPts val="1200"/>
              </a:lnSpc>
            </a:pPr>
            <a:r>
              <a:rPr sz="1000" spc="-30" dirty="0">
                <a:latin typeface="Arial MT"/>
                <a:cs typeface="Arial MT"/>
              </a:rPr>
              <a:t>dynamically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draws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physical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parameters.</a:t>
            </a:r>
            <a:endParaRPr sz="1000">
              <a:latin typeface="Arial MT"/>
              <a:cs typeface="Arial MT"/>
            </a:endParaRPr>
          </a:p>
          <a:p>
            <a:pPr marL="265430" marR="149860">
              <a:lnSpc>
                <a:spcPct val="100000"/>
              </a:lnSpc>
              <a:spcBef>
                <a:spcPts val="290"/>
              </a:spcBef>
            </a:pPr>
            <a:r>
              <a:rPr sz="1000" b="1" spc="-25" dirty="0">
                <a:latin typeface="Arial"/>
                <a:cs typeface="Arial"/>
              </a:rPr>
              <a:t>Simulation:</a:t>
            </a:r>
            <a:r>
              <a:rPr sz="1000" b="1" spc="7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Monte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Carlo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realizations </a:t>
            </a:r>
            <a:r>
              <a:rPr sz="1000" dirty="0">
                <a:latin typeface="Arial MT"/>
                <a:cs typeface="Arial MT"/>
              </a:rPr>
              <a:t>track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movements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10" dirty="0">
                <a:latin typeface="Arial MT"/>
                <a:cs typeface="Arial MT"/>
              </a:rPr>
              <a:t>connections.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Theory: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Analytical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scripts </a:t>
            </a:r>
            <a:r>
              <a:rPr sz="1000" spc="-20" dirty="0">
                <a:latin typeface="Arial MT"/>
                <a:cs typeface="Arial MT"/>
              </a:rPr>
              <a:t>load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identical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compute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exact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ts val="1190"/>
              </a:lnSpc>
            </a:pPr>
            <a:r>
              <a:rPr sz="1000" spc="-55" dirty="0">
                <a:latin typeface="Arial MT"/>
                <a:cs typeface="Arial MT"/>
              </a:rPr>
              <a:t>lower-</a:t>
            </a:r>
            <a:r>
              <a:rPr sz="1000" spc="-20" dirty="0">
                <a:latin typeface="Arial MT"/>
                <a:cs typeface="Arial MT"/>
              </a:rPr>
              <a:t>bound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probabilities.</a:t>
            </a:r>
            <a:endParaRPr sz="1000">
              <a:latin typeface="Arial MT"/>
              <a:cs typeface="Arial MT"/>
            </a:endParaRPr>
          </a:p>
          <a:p>
            <a:pPr marL="265430" marR="254635">
              <a:lnSpc>
                <a:spcPct val="100000"/>
              </a:lnSpc>
              <a:spcBef>
                <a:spcPts val="290"/>
              </a:spcBef>
            </a:pPr>
            <a:r>
              <a:rPr sz="1000" b="1" spc="-25" dirty="0">
                <a:latin typeface="Arial"/>
                <a:cs typeface="Arial"/>
              </a:rPr>
              <a:t>Evaluation: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Outputs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plotted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to </a:t>
            </a:r>
            <a:r>
              <a:rPr sz="1000" spc="-50" dirty="0">
                <a:latin typeface="Arial MT"/>
                <a:cs typeface="Arial MT"/>
              </a:rPr>
              <a:t>compare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SSM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vs.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DSM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metrics.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13138" y="1240027"/>
            <a:ext cx="2061845" cy="187960"/>
          </a:xfrm>
          <a:custGeom>
            <a:avLst/>
            <a:gdLst/>
            <a:ahLst/>
            <a:cxnLst/>
            <a:rect l="l" t="t" r="r" b="b"/>
            <a:pathLst>
              <a:path w="2061845" h="187959">
                <a:moveTo>
                  <a:pt x="201053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061340" y="187823"/>
                </a:lnTo>
                <a:lnTo>
                  <a:pt x="2061340" y="50800"/>
                </a:lnTo>
                <a:lnTo>
                  <a:pt x="2057331" y="31075"/>
                </a:lnTo>
                <a:lnTo>
                  <a:pt x="2046417" y="14922"/>
                </a:lnTo>
                <a:lnTo>
                  <a:pt x="2030264" y="4008"/>
                </a:lnTo>
                <a:lnTo>
                  <a:pt x="2010539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63939" y="1268475"/>
            <a:ext cx="113284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2EFEB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2EFEB"/>
                </a:solidFill>
                <a:latin typeface="Tahoma"/>
                <a:cs typeface="Tahoma"/>
              </a:rPr>
              <a:t>Decision</a:t>
            </a:r>
            <a:r>
              <a:rPr sz="1200" spc="-50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2EFEB"/>
                </a:solidFill>
                <a:latin typeface="Tahoma"/>
                <a:cs typeface="Tahoma"/>
              </a:rPr>
              <a:t>Rule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13138" y="1296943"/>
            <a:ext cx="2094864" cy="1423035"/>
            <a:chOff x="2513138" y="1296943"/>
            <a:chExt cx="2094864" cy="142303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3138" y="1415199"/>
              <a:ext cx="2061340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63939" y="1296943"/>
              <a:ext cx="2044064" cy="1423035"/>
            </a:xfrm>
            <a:custGeom>
              <a:avLst/>
              <a:gdLst/>
              <a:ahLst/>
              <a:cxnLst/>
              <a:rect l="l" t="t" r="r" b="b"/>
              <a:pathLst>
                <a:path w="2044064" h="1423035">
                  <a:moveTo>
                    <a:pt x="2044064" y="0"/>
                  </a:moveTo>
                  <a:lnTo>
                    <a:pt x="0" y="0"/>
                  </a:lnTo>
                  <a:lnTo>
                    <a:pt x="0" y="1422749"/>
                  </a:lnTo>
                  <a:lnTo>
                    <a:pt x="2044064" y="1422749"/>
                  </a:lnTo>
                  <a:lnTo>
                    <a:pt x="2044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13138" y="1459462"/>
              <a:ext cx="2061845" cy="1209675"/>
            </a:xfrm>
            <a:custGeom>
              <a:avLst/>
              <a:gdLst/>
              <a:ahLst/>
              <a:cxnLst/>
              <a:rect l="l" t="t" r="r" b="b"/>
              <a:pathLst>
                <a:path w="2061845" h="1209675">
                  <a:moveTo>
                    <a:pt x="2061340" y="0"/>
                  </a:moveTo>
                  <a:lnTo>
                    <a:pt x="0" y="0"/>
                  </a:lnTo>
                  <a:lnTo>
                    <a:pt x="0" y="1158629"/>
                  </a:lnTo>
                  <a:lnTo>
                    <a:pt x="4008" y="1178354"/>
                  </a:lnTo>
                  <a:lnTo>
                    <a:pt x="14922" y="1194507"/>
                  </a:lnTo>
                  <a:lnTo>
                    <a:pt x="31075" y="1205421"/>
                  </a:lnTo>
                  <a:lnTo>
                    <a:pt x="50800" y="1209430"/>
                  </a:lnTo>
                  <a:lnTo>
                    <a:pt x="2010539" y="1209430"/>
                  </a:lnTo>
                  <a:lnTo>
                    <a:pt x="2030264" y="1205421"/>
                  </a:lnTo>
                  <a:lnTo>
                    <a:pt x="2046417" y="1194507"/>
                  </a:lnTo>
                  <a:lnTo>
                    <a:pt x="2057331" y="1178354"/>
                  </a:lnTo>
                  <a:lnTo>
                    <a:pt x="2061340" y="1158629"/>
                  </a:lnTo>
                  <a:lnTo>
                    <a:pt x="2061340" y="0"/>
                  </a:lnTo>
                  <a:close/>
                </a:path>
              </a:pathLst>
            </a:custGeom>
            <a:solidFill>
              <a:srgbClr val="F2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63939" y="1296943"/>
            <a:ext cx="2044064" cy="14230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>
              <a:lnSpc>
                <a:spcPts val="1200"/>
              </a:lnSpc>
            </a:pPr>
            <a:r>
              <a:rPr sz="1000" b="1" spc="-30" dirty="0">
                <a:latin typeface="Arial"/>
                <a:cs typeface="Arial"/>
              </a:rPr>
              <a:t>Nearest-</a:t>
            </a:r>
            <a:r>
              <a:rPr sz="1000" b="1" spc="-25" dirty="0">
                <a:latin typeface="Arial"/>
                <a:cs typeface="Arial"/>
              </a:rPr>
              <a:t>Neighbor</a:t>
            </a:r>
            <a:r>
              <a:rPr sz="1000" b="1" spc="10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Policy:</a:t>
            </a:r>
            <a:endParaRPr sz="1000">
              <a:latin typeface="Arial"/>
              <a:cs typeface="Arial"/>
            </a:endParaRPr>
          </a:p>
          <a:p>
            <a:pPr marR="333375" algn="just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user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always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connects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35" dirty="0">
                <a:latin typeface="Arial MT"/>
                <a:cs typeface="Arial MT"/>
              </a:rPr>
              <a:t>physically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closest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every </a:t>
            </a:r>
            <a:r>
              <a:rPr sz="1000" spc="-25" dirty="0">
                <a:latin typeface="Arial MT"/>
                <a:cs typeface="Arial MT"/>
              </a:rPr>
              <a:t>moment</a:t>
            </a:r>
            <a:r>
              <a:rPr sz="1000" dirty="0">
                <a:latin typeface="Arial MT"/>
                <a:cs typeface="Arial MT"/>
              </a:rPr>
              <a:t> in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time.</a:t>
            </a:r>
            <a:endParaRPr sz="1000">
              <a:latin typeface="Arial MT"/>
              <a:cs typeface="Arial MT"/>
            </a:endParaRPr>
          </a:p>
          <a:p>
            <a:pPr marL="339090">
              <a:lnSpc>
                <a:spcPct val="100000"/>
              </a:lnSpc>
              <a:spcBef>
                <a:spcPts val="515"/>
              </a:spcBef>
            </a:pP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50" baseline="27777" dirty="0">
                <a:latin typeface="Lucida Sans Unicode"/>
                <a:cs typeface="Lucida Sans Unicode"/>
              </a:rPr>
              <a:t>∗</a:t>
            </a:r>
            <a:r>
              <a:rPr sz="1000" dirty="0">
                <a:latin typeface="Arial MT"/>
                <a:cs typeface="Arial MT"/>
              </a:rPr>
              <a:t>(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00" dirty="0">
                <a:latin typeface="Arial MT"/>
                <a:cs typeface="Arial MT"/>
              </a:rPr>
              <a:t>)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180" dirty="0">
                <a:latin typeface="Arial MT"/>
                <a:cs typeface="Arial MT"/>
              </a:rPr>
              <a:t>=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arg</a:t>
            </a:r>
            <a:r>
              <a:rPr sz="1000" spc="-8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min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i="1" spc="-100" dirty="0">
                <a:latin typeface="Verdana"/>
                <a:cs typeface="Verdana"/>
              </a:rPr>
              <a:t>||</a:t>
            </a:r>
            <a:r>
              <a:rPr sz="1000" i="1" spc="-100" dirty="0">
                <a:latin typeface="Arial"/>
                <a:cs typeface="Arial"/>
              </a:rPr>
              <a:t>x</a:t>
            </a:r>
            <a:r>
              <a:rPr sz="1050" i="1" spc="-150" baseline="-11904" dirty="0">
                <a:latin typeface="Arial"/>
                <a:cs typeface="Arial"/>
              </a:rPr>
              <a:t>i</a:t>
            </a:r>
            <a:r>
              <a:rPr sz="1050" i="1" spc="-97" baseline="-11904" dirty="0"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(</a:t>
            </a:r>
            <a:r>
              <a:rPr sz="1000" i="1" spc="-20" dirty="0">
                <a:latin typeface="Arial"/>
                <a:cs typeface="Arial"/>
              </a:rPr>
              <a:t>t</a:t>
            </a:r>
            <a:r>
              <a:rPr sz="1000" spc="-20" dirty="0">
                <a:latin typeface="Arial MT"/>
                <a:cs typeface="Arial MT"/>
              </a:rPr>
              <a:t>)</a:t>
            </a:r>
            <a:r>
              <a:rPr sz="1000" i="1" spc="-20" dirty="0">
                <a:latin typeface="Verdana"/>
                <a:cs typeface="Verdana"/>
              </a:rPr>
              <a:t>||</a:t>
            </a:r>
            <a:endParaRPr sz="1000">
              <a:latin typeface="Verdana"/>
              <a:cs typeface="Verdana"/>
            </a:endParaRPr>
          </a:p>
          <a:p>
            <a:pPr marR="213995">
              <a:lnSpc>
                <a:spcPct val="101499"/>
              </a:lnSpc>
              <a:spcBef>
                <a:spcPts val="545"/>
              </a:spcBef>
            </a:pPr>
            <a:r>
              <a:rPr sz="900" i="1" dirty="0">
                <a:latin typeface="Arial"/>
                <a:cs typeface="Arial"/>
              </a:rPr>
              <a:t>A </a:t>
            </a:r>
            <a:r>
              <a:rPr sz="900" i="1" spc="-30" dirty="0">
                <a:latin typeface="Arial"/>
                <a:cs typeface="Arial"/>
              </a:rPr>
              <a:t>handover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occurs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when</a:t>
            </a:r>
            <a:r>
              <a:rPr sz="900" i="1" dirty="0">
                <a:latin typeface="Arial"/>
                <a:cs typeface="Arial"/>
              </a:rPr>
              <a:t> the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index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closest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drone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20" name="object 20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2160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50" dirty="0">
                <a:solidFill>
                  <a:srgbClr val="A0A0A0"/>
                </a:solidFill>
                <a:latin typeface="Arial"/>
                <a:cs typeface="Arial"/>
              </a:rPr>
              <a:t>Sources</a:t>
            </a:r>
            <a:r>
              <a:rPr sz="900" b="1" spc="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of</a:t>
            </a:r>
            <a:r>
              <a:rPr sz="900" b="1" spc="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Uncertainty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spc="-25" dirty="0"/>
              <a:t>Determinism</a:t>
            </a:r>
            <a:r>
              <a:rPr spc="25" dirty="0"/>
              <a:t> </a:t>
            </a:r>
            <a:r>
              <a:rPr spc="-40" dirty="0"/>
              <a:t>Falls</a:t>
            </a:r>
            <a:r>
              <a:rPr spc="20" dirty="0"/>
              <a:t> </a:t>
            </a:r>
            <a:r>
              <a:rPr spc="-20" dirty="0"/>
              <a:t>Short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046886"/>
            <a:ext cx="59601" cy="596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388503"/>
            <a:ext cx="59601" cy="59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730121"/>
            <a:ext cx="59601" cy="596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/>
              <a:t>Key</a:t>
            </a:r>
            <a:r>
              <a:rPr spc="10" dirty="0"/>
              <a:t> </a:t>
            </a:r>
            <a:r>
              <a:rPr spc="-50" dirty="0"/>
              <a:t>Sources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System</a:t>
            </a:r>
            <a:r>
              <a:rPr spc="10" dirty="0"/>
              <a:t> </a:t>
            </a:r>
            <a:r>
              <a:rPr spc="-10" dirty="0"/>
              <a:t>Uncertainty</a:t>
            </a:r>
          </a:p>
          <a:p>
            <a:pPr marL="265430" marR="278765">
              <a:lnSpc>
                <a:spcPct val="100000"/>
              </a:lnSpc>
              <a:spcBef>
                <a:spcPts val="295"/>
              </a:spcBef>
            </a:pPr>
            <a:r>
              <a:rPr spc="-10" dirty="0"/>
              <a:t>Spatial</a:t>
            </a:r>
            <a:r>
              <a:rPr spc="20" dirty="0"/>
              <a:t> </a:t>
            </a:r>
            <a:r>
              <a:rPr spc="-20" dirty="0"/>
              <a:t>Distribution:</a:t>
            </a:r>
            <a:r>
              <a:rPr spc="80" dirty="0"/>
              <a:t> </a:t>
            </a:r>
            <a:r>
              <a:rPr b="0" spc="-50" dirty="0">
                <a:latin typeface="Arial MT"/>
                <a:cs typeface="Arial MT"/>
              </a:rPr>
              <a:t>Drones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land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and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start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at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30" dirty="0">
                <a:latin typeface="Arial MT"/>
                <a:cs typeface="Arial MT"/>
              </a:rPr>
              <a:t>varying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45" dirty="0">
                <a:latin typeface="Arial MT"/>
                <a:cs typeface="Arial MT"/>
              </a:rPr>
              <a:t>distances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from </a:t>
            </a:r>
            <a:r>
              <a:rPr b="0" spc="-25" dirty="0">
                <a:latin typeface="Arial MT"/>
                <a:cs typeface="Arial MT"/>
              </a:rPr>
              <a:t>ground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users.</a:t>
            </a:r>
          </a:p>
          <a:p>
            <a:pPr marL="265430" marR="178435">
              <a:lnSpc>
                <a:spcPct val="100000"/>
              </a:lnSpc>
              <a:spcBef>
                <a:spcPts val="290"/>
              </a:spcBef>
            </a:pPr>
            <a:r>
              <a:rPr spc="-10" dirty="0"/>
              <a:t>Network</a:t>
            </a:r>
            <a:r>
              <a:rPr spc="10" dirty="0"/>
              <a:t> </a:t>
            </a:r>
            <a:r>
              <a:rPr spc="-20" dirty="0"/>
              <a:t>Density:</a:t>
            </a:r>
            <a:r>
              <a:rPr spc="70" dirty="0"/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30" dirty="0">
                <a:latin typeface="Arial MT"/>
                <a:cs typeface="Arial MT"/>
              </a:rPr>
              <a:t>number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active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drones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55" dirty="0">
                <a:latin typeface="Arial MT"/>
                <a:cs typeface="Arial MT"/>
              </a:rPr>
              <a:t>deployed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fluctuates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per </a:t>
            </a:r>
            <a:r>
              <a:rPr b="0" spc="-10" dirty="0">
                <a:latin typeface="Arial MT"/>
                <a:cs typeface="Arial MT"/>
              </a:rPr>
              <a:t>mission.</a:t>
            </a: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/>
              <a:t>Drone</a:t>
            </a:r>
            <a:r>
              <a:rPr spc="15" dirty="0"/>
              <a:t> </a:t>
            </a:r>
            <a:r>
              <a:rPr spc="-40" dirty="0"/>
              <a:t>Speeds:</a:t>
            </a:r>
            <a:r>
              <a:rPr spc="95" dirty="0"/>
              <a:t> </a:t>
            </a:r>
            <a:r>
              <a:rPr b="0" spc="-20" dirty="0">
                <a:latin typeface="Arial MT"/>
                <a:cs typeface="Arial MT"/>
              </a:rPr>
              <a:t>Individual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drones</a:t>
            </a:r>
            <a:r>
              <a:rPr b="0" dirty="0">
                <a:latin typeface="Arial MT"/>
                <a:cs typeface="Arial MT"/>
              </a:rPr>
              <a:t> </a:t>
            </a:r>
            <a:r>
              <a:rPr b="0" spc="-55" dirty="0">
                <a:latin typeface="Arial MT"/>
                <a:cs typeface="Arial MT"/>
              </a:rPr>
              <a:t>move</a:t>
            </a:r>
            <a:r>
              <a:rPr b="0" dirty="0">
                <a:latin typeface="Arial MT"/>
                <a:cs typeface="Arial MT"/>
              </a:rPr>
              <a:t> at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different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spc="-85" dirty="0">
                <a:latin typeface="Arial MT"/>
                <a:cs typeface="Arial MT"/>
              </a:rPr>
              <a:t>speeds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40" dirty="0">
                <a:latin typeface="Arial MT"/>
                <a:cs typeface="Arial MT"/>
              </a:rPr>
              <a:t>due</a:t>
            </a:r>
            <a:r>
              <a:rPr b="0" dirty="0">
                <a:latin typeface="Arial MT"/>
                <a:cs typeface="Arial MT"/>
              </a:rPr>
              <a:t> to </a:t>
            </a:r>
            <a:r>
              <a:rPr b="0" spc="-40" dirty="0">
                <a:latin typeface="Arial MT"/>
                <a:cs typeface="Arial MT"/>
              </a:rPr>
              <a:t>hardware </a:t>
            </a:r>
            <a:r>
              <a:rPr b="0" spc="-45" dirty="0">
                <a:latin typeface="Arial MT"/>
                <a:cs typeface="Arial MT"/>
              </a:rPr>
              <a:t>differences,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battery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45" dirty="0">
                <a:latin typeface="Arial MT"/>
                <a:cs typeface="Arial MT"/>
              </a:rPr>
              <a:t>levels,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or</a:t>
            </a:r>
            <a:r>
              <a:rPr b="0" spc="-10" dirty="0">
                <a:latin typeface="Arial MT"/>
                <a:cs typeface="Arial MT"/>
              </a:rPr>
              <a:t> wind.</a:t>
            </a:r>
          </a:p>
        </p:txBody>
      </p:sp>
      <p:sp>
        <p:nvSpPr>
          <p:cNvPr id="10" name="object 10"/>
          <p:cNvSpPr/>
          <p:nvPr/>
        </p:nvSpPr>
        <p:spPr>
          <a:xfrm>
            <a:off x="75729" y="2251912"/>
            <a:ext cx="4457065" cy="187960"/>
          </a:xfrm>
          <a:custGeom>
            <a:avLst/>
            <a:gdLst/>
            <a:ahLst/>
            <a:cxnLst/>
            <a:rect l="l" t="t" r="r" b="b"/>
            <a:pathLst>
              <a:path w="4457065" h="187960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56606" y="187823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" y="2280360"/>
            <a:ext cx="17926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2EFEB"/>
                </a:solidFill>
                <a:latin typeface="Tahoma"/>
                <a:cs typeface="Tahoma"/>
              </a:rPr>
              <a:t>The</a:t>
            </a:r>
            <a:r>
              <a:rPr sz="1200" spc="-80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2EFEB"/>
                </a:solidFill>
                <a:latin typeface="Tahoma"/>
                <a:cs typeface="Tahoma"/>
              </a:rPr>
              <a:t>Need</a:t>
            </a:r>
            <a:r>
              <a:rPr sz="1200" spc="-30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2EFEB"/>
                </a:solidFill>
                <a:latin typeface="Tahoma"/>
                <a:cs typeface="Tahoma"/>
              </a:rPr>
              <a:t>for</a:t>
            </a:r>
            <a:r>
              <a:rPr sz="1200" spc="-50" dirty="0">
                <a:solidFill>
                  <a:srgbClr val="F2EFEB"/>
                </a:solidFill>
                <a:latin typeface="Tahoma"/>
                <a:cs typeface="Tahoma"/>
              </a:rPr>
              <a:t> Randomization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29" y="2308845"/>
            <a:ext cx="4507865" cy="851535"/>
            <a:chOff x="75729" y="2308845"/>
            <a:chExt cx="4507865" cy="85153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29" y="2427084"/>
              <a:ext cx="4456607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6530" y="2308845"/>
              <a:ext cx="4457065" cy="851535"/>
            </a:xfrm>
            <a:custGeom>
              <a:avLst/>
              <a:gdLst/>
              <a:ahLst/>
              <a:cxnLst/>
              <a:rect l="l" t="t" r="r" b="b"/>
              <a:pathLst>
                <a:path w="4457065" h="851535">
                  <a:moveTo>
                    <a:pt x="4456607" y="0"/>
                  </a:moveTo>
                  <a:lnTo>
                    <a:pt x="0" y="0"/>
                  </a:lnTo>
                  <a:lnTo>
                    <a:pt x="0" y="851017"/>
                  </a:lnTo>
                  <a:lnTo>
                    <a:pt x="4456607" y="851017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729" y="2471363"/>
              <a:ext cx="4457065" cy="638175"/>
            </a:xfrm>
            <a:custGeom>
              <a:avLst/>
              <a:gdLst/>
              <a:ahLst/>
              <a:cxnLst/>
              <a:rect l="l" t="t" r="r" b="b"/>
              <a:pathLst>
                <a:path w="4457065" h="638175">
                  <a:moveTo>
                    <a:pt x="4456606" y="0"/>
                  </a:moveTo>
                  <a:lnTo>
                    <a:pt x="0" y="0"/>
                  </a:lnTo>
                  <a:lnTo>
                    <a:pt x="0" y="586898"/>
                  </a:lnTo>
                  <a:lnTo>
                    <a:pt x="4008" y="606622"/>
                  </a:lnTo>
                  <a:lnTo>
                    <a:pt x="14922" y="622775"/>
                  </a:lnTo>
                  <a:lnTo>
                    <a:pt x="31075" y="633689"/>
                  </a:lnTo>
                  <a:lnTo>
                    <a:pt x="50800" y="637698"/>
                  </a:lnTo>
                  <a:lnTo>
                    <a:pt x="4405806" y="637698"/>
                  </a:lnTo>
                  <a:lnTo>
                    <a:pt x="4425531" y="633689"/>
                  </a:lnTo>
                  <a:lnTo>
                    <a:pt x="4441684" y="622775"/>
                  </a:lnTo>
                  <a:lnTo>
                    <a:pt x="4452598" y="606622"/>
                  </a:lnTo>
                  <a:lnTo>
                    <a:pt x="4456606" y="586898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2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6530" y="2308845"/>
            <a:ext cx="4457065" cy="8515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R="177800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By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drawing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randomly,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every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simulation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run </a:t>
            </a:r>
            <a:r>
              <a:rPr sz="1000" spc="-70" dirty="0">
                <a:latin typeface="Arial MT"/>
                <a:cs typeface="Arial MT"/>
              </a:rPr>
              <a:t>becomes</a:t>
            </a:r>
            <a:r>
              <a:rPr sz="1000" dirty="0">
                <a:latin typeface="Arial MT"/>
                <a:cs typeface="Arial MT"/>
              </a:rPr>
              <a:t> a </a:t>
            </a:r>
            <a:r>
              <a:rPr sz="1000" spc="-10" dirty="0">
                <a:latin typeface="Arial MT"/>
                <a:cs typeface="Arial MT"/>
              </a:rPr>
              <a:t>genuinely different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experiment.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If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theoretical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math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matches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simulation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across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all </a:t>
            </a:r>
            <a:r>
              <a:rPr sz="1000" spc="-45" dirty="0">
                <a:latin typeface="Arial MT"/>
                <a:cs typeface="Arial MT"/>
              </a:rPr>
              <a:t>these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variations,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we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prove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35" dirty="0">
                <a:latin typeface="Arial MT"/>
                <a:cs typeface="Arial MT"/>
              </a:rPr>
              <a:t>results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robust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generalizable,</a:t>
            </a:r>
            <a:r>
              <a:rPr sz="1000" dirty="0">
                <a:latin typeface="Arial MT"/>
                <a:cs typeface="Arial MT"/>
              </a:rPr>
              <a:t> not just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lucky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special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case.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8" name="object 18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7278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0" dirty="0">
                <a:solidFill>
                  <a:srgbClr val="A0A0A0"/>
                </a:solidFill>
                <a:latin typeface="Arial"/>
                <a:cs typeface="Arial"/>
              </a:rPr>
              <a:t>Random</a:t>
            </a:r>
            <a:r>
              <a:rPr sz="900" b="1" spc="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A0A0A0"/>
                </a:solidFill>
                <a:latin typeface="Arial"/>
                <a:cs typeface="Arial"/>
              </a:rPr>
              <a:t>Variables</a:t>
            </a:r>
            <a:r>
              <a:rPr sz="900" b="1" spc="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in</a:t>
            </a:r>
            <a:r>
              <a:rPr sz="900" b="1" spc="2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207591"/>
            <a:ext cx="18948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Distributional</a:t>
            </a:r>
            <a:r>
              <a:rPr spc="65" dirty="0"/>
              <a:t> </a:t>
            </a:r>
            <a:r>
              <a:rPr spc="-65" dirty="0"/>
              <a:t>Assumptions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73594" y="81382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7664" y="1351645"/>
            <a:ext cx="3832860" cy="0"/>
          </a:xfrm>
          <a:custGeom>
            <a:avLst/>
            <a:gdLst/>
            <a:ahLst/>
            <a:cxnLst/>
            <a:rect l="l" t="t" r="r" b="b"/>
            <a:pathLst>
              <a:path w="3832860">
                <a:moveTo>
                  <a:pt x="0" y="0"/>
                </a:moveTo>
                <a:lnTo>
                  <a:pt x="3832653" y="0"/>
                </a:lnTo>
              </a:path>
            </a:pathLst>
          </a:custGeom>
          <a:ln w="10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830" y="677143"/>
            <a:ext cx="3082925" cy="866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" dirty="0">
                <a:latin typeface="Arial"/>
                <a:cs typeface="Arial"/>
              </a:rPr>
              <a:t>The</a:t>
            </a:r>
            <a:r>
              <a:rPr sz="1000" b="1" spc="175" dirty="0">
                <a:latin typeface="Arial"/>
                <a:cs typeface="Arial"/>
              </a:rPr>
              <a:t> </a:t>
            </a:r>
            <a:r>
              <a:rPr sz="1000" spc="10" dirty="0">
                <a:latin typeface="Calibri"/>
                <a:cs typeface="Calibri"/>
              </a:rPr>
              <a:t>randomised</a:t>
            </a:r>
            <a:r>
              <a:rPr sz="1000" spc="245" dirty="0">
                <a:latin typeface="Calibri"/>
                <a:cs typeface="Calibri"/>
              </a:rPr>
              <a:t> </a:t>
            </a:r>
            <a:r>
              <a:rPr sz="1000" spc="110" dirty="0">
                <a:latin typeface="Calibri"/>
                <a:cs typeface="Calibri"/>
              </a:rPr>
              <a:t>config.py</a:t>
            </a:r>
            <a:r>
              <a:rPr sz="1000" spc="2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Arial"/>
                <a:cs typeface="Arial"/>
              </a:rPr>
              <a:t>Module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310005">
              <a:lnSpc>
                <a:spcPct val="100000"/>
              </a:lnSpc>
            </a:pPr>
            <a:r>
              <a:rPr sz="700" dirty="0">
                <a:solidFill>
                  <a:srgbClr val="7F1213"/>
                </a:solidFill>
                <a:latin typeface="Arial MT"/>
                <a:cs typeface="Arial MT"/>
              </a:rPr>
              <a:t>Table:</a:t>
            </a:r>
            <a:r>
              <a:rPr sz="700" spc="25" dirty="0">
                <a:solidFill>
                  <a:srgbClr val="7F1213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Sampled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Distributions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Milestone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50" dirty="0"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700">
              <a:latin typeface="Arial MT"/>
              <a:cs typeface="Arial MT"/>
            </a:endParaRPr>
          </a:p>
          <a:p>
            <a:pPr marL="351790">
              <a:lnSpc>
                <a:spcPct val="100000"/>
              </a:lnSpc>
              <a:tabLst>
                <a:tab pos="1692910" algn="l"/>
              </a:tabLst>
            </a:pPr>
            <a:r>
              <a:rPr sz="1000" b="1" spc="-10" dirty="0">
                <a:latin typeface="Arial"/>
                <a:cs typeface="Arial"/>
              </a:rPr>
              <a:t>Random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Variable</a:t>
            </a:r>
            <a:r>
              <a:rPr sz="1000" b="1" dirty="0">
                <a:latin typeface="Arial"/>
                <a:cs typeface="Arial"/>
              </a:rPr>
              <a:t>	Distribution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120" dirty="0">
                <a:latin typeface="Arial"/>
                <a:cs typeface="Arial"/>
              </a:rPr>
              <a:t>&amp;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Range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7664" y="1577860"/>
            <a:ext cx="3832860" cy="0"/>
          </a:xfrm>
          <a:custGeom>
            <a:avLst/>
            <a:gdLst/>
            <a:ahLst/>
            <a:cxnLst/>
            <a:rect l="l" t="t" r="r" b="b"/>
            <a:pathLst>
              <a:path w="3832860">
                <a:moveTo>
                  <a:pt x="0" y="0"/>
                </a:moveTo>
                <a:lnTo>
                  <a:pt x="3832653" y="0"/>
                </a:lnTo>
              </a:path>
            </a:pathLst>
          </a:custGeom>
          <a:ln w="6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7950" y="1601224"/>
            <a:ext cx="1260475" cy="809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02899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Drone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Density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50" dirty="0">
                <a:latin typeface="Arial MT"/>
                <a:cs typeface="Arial MT"/>
              </a:rPr>
              <a:t>(</a:t>
            </a:r>
            <a:r>
              <a:rPr sz="1000" i="1" spc="50" dirty="0">
                <a:latin typeface="Calibri"/>
                <a:cs typeface="Calibri"/>
              </a:rPr>
              <a:t>λ</a:t>
            </a:r>
            <a:r>
              <a:rPr sz="1050" spc="75" baseline="-11904" dirty="0">
                <a:latin typeface="Arial MT"/>
                <a:cs typeface="Arial MT"/>
              </a:rPr>
              <a:t>0</a:t>
            </a:r>
            <a:r>
              <a:rPr sz="1000" spc="50" dirty="0">
                <a:latin typeface="Arial MT"/>
                <a:cs typeface="Arial MT"/>
              </a:rPr>
              <a:t>) </a:t>
            </a:r>
            <a:r>
              <a:rPr sz="1000" spc="-10" dirty="0">
                <a:latin typeface="Arial MT"/>
                <a:cs typeface="Arial MT"/>
              </a:rPr>
              <a:t>Mean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Speed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1904" dirty="0">
                <a:latin typeface="Arial"/>
                <a:cs typeface="Arial"/>
              </a:rPr>
              <a:t>Mean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Arial MT"/>
                <a:cs typeface="Arial MT"/>
              </a:rPr>
              <a:t>) </a:t>
            </a:r>
            <a:r>
              <a:rPr sz="1000" spc="-45" dirty="0">
                <a:latin typeface="Arial MT"/>
                <a:cs typeface="Arial MT"/>
              </a:rPr>
              <a:t>Speed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Spread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1904" dirty="0">
                <a:latin typeface="Arial"/>
                <a:cs typeface="Arial"/>
              </a:rPr>
              <a:t>Diff</a:t>
            </a:r>
            <a:r>
              <a:rPr sz="1050" i="1" spc="22" baseline="-11904" dirty="0">
                <a:latin typeface="Arial"/>
                <a:cs typeface="Arial"/>
              </a:rPr>
              <a:t> </a:t>
            </a:r>
            <a:r>
              <a:rPr sz="1000" spc="10" dirty="0">
                <a:latin typeface="Arial MT"/>
                <a:cs typeface="Arial MT"/>
              </a:rPr>
              <a:t>) </a:t>
            </a:r>
            <a:r>
              <a:rPr sz="1000" spc="-25" dirty="0">
                <a:latin typeface="Arial MT"/>
                <a:cs typeface="Arial MT"/>
              </a:rPr>
              <a:t>Exclusion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Radius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(</a:t>
            </a:r>
            <a:r>
              <a:rPr sz="1000" i="1" spc="-20" dirty="0">
                <a:latin typeface="Arial"/>
                <a:cs typeface="Arial"/>
              </a:rPr>
              <a:t>u</a:t>
            </a:r>
            <a:r>
              <a:rPr sz="1050" spc="-30" baseline="-11904" dirty="0">
                <a:latin typeface="Arial MT"/>
                <a:cs typeface="Arial MT"/>
              </a:rPr>
              <a:t>0</a:t>
            </a:r>
            <a:r>
              <a:rPr sz="1000" spc="-20" dirty="0">
                <a:latin typeface="Arial MT"/>
                <a:cs typeface="Arial MT"/>
              </a:rPr>
              <a:t>)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Window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70" dirty="0">
                <a:latin typeface="Arial MT"/>
                <a:cs typeface="Arial MT"/>
              </a:rPr>
              <a:t>(</a:t>
            </a:r>
            <a:r>
              <a:rPr sz="1000" i="1" spc="70" dirty="0">
                <a:latin typeface="Arial"/>
                <a:cs typeface="Arial"/>
              </a:rPr>
              <a:t>T</a:t>
            </a:r>
            <a:r>
              <a:rPr sz="1000" i="1" spc="-140" dirty="0">
                <a:latin typeface="Arial"/>
                <a:cs typeface="Arial"/>
              </a:rPr>
              <a:t> </a:t>
            </a:r>
            <a:r>
              <a:rPr sz="1000" spc="10" dirty="0">
                <a:latin typeface="Arial MT"/>
                <a:cs typeface="Arial MT"/>
              </a:rPr>
              <a:t>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8476" y="1601224"/>
            <a:ext cx="2411730" cy="809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Arial MT"/>
                <a:cs typeface="Arial MT"/>
              </a:rPr>
              <a:t>Uniform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(5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i="1" spc="-25" dirty="0">
                <a:latin typeface="Verdana"/>
                <a:cs typeface="Verdana"/>
              </a:rPr>
              <a:t>×</a:t>
            </a:r>
            <a:r>
              <a:rPr sz="1000" i="1" spc="-125" dirty="0">
                <a:latin typeface="Verdana"/>
                <a:cs typeface="Verdana"/>
              </a:rPr>
              <a:t> </a:t>
            </a:r>
            <a:r>
              <a:rPr sz="1000" dirty="0">
                <a:latin typeface="Arial MT"/>
                <a:cs typeface="Arial MT"/>
              </a:rPr>
              <a:t>10</a:t>
            </a:r>
            <a:r>
              <a:rPr sz="1050" baseline="27777" dirty="0">
                <a:latin typeface="Lucida Sans Unicode"/>
                <a:cs typeface="Lucida Sans Unicode"/>
              </a:rPr>
              <a:t>−</a:t>
            </a:r>
            <a:r>
              <a:rPr sz="1050" baseline="27777" dirty="0">
                <a:latin typeface="Arial MT"/>
                <a:cs typeface="Arial MT"/>
              </a:rPr>
              <a:t>7</a:t>
            </a:r>
            <a:r>
              <a:rPr sz="1050" spc="315" baseline="27777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2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i="1" spc="-25" dirty="0">
                <a:latin typeface="Verdana"/>
                <a:cs typeface="Verdana"/>
              </a:rPr>
              <a:t>×</a:t>
            </a:r>
            <a:r>
              <a:rPr sz="1000" i="1" spc="-120" dirty="0">
                <a:latin typeface="Verdana"/>
                <a:cs typeface="Verdana"/>
              </a:rPr>
              <a:t> </a:t>
            </a:r>
            <a:r>
              <a:rPr sz="1000" dirty="0">
                <a:latin typeface="Arial MT"/>
                <a:cs typeface="Arial MT"/>
              </a:rPr>
              <a:t>10</a:t>
            </a:r>
            <a:r>
              <a:rPr sz="1050" baseline="27777" dirty="0">
                <a:latin typeface="Lucida Sans Unicode"/>
                <a:cs typeface="Lucida Sans Unicode"/>
              </a:rPr>
              <a:t>−</a:t>
            </a:r>
            <a:r>
              <a:rPr sz="1050" baseline="27777" dirty="0">
                <a:latin typeface="Arial MT"/>
                <a:cs typeface="Arial MT"/>
              </a:rPr>
              <a:t>6</a:t>
            </a:r>
            <a:r>
              <a:rPr sz="1050" spc="307" baseline="27777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UAVs/m</a:t>
            </a:r>
            <a:r>
              <a:rPr sz="1050" spc="-15" baseline="39682" dirty="0">
                <a:latin typeface="Arial MT"/>
                <a:cs typeface="Arial MT"/>
              </a:rPr>
              <a:t>2</a:t>
            </a:r>
            <a:r>
              <a:rPr sz="1000" spc="-10" dirty="0">
                <a:latin typeface="Arial MT"/>
                <a:cs typeface="Arial MT"/>
              </a:rPr>
              <a:t>)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0" dirty="0">
                <a:latin typeface="Arial MT"/>
                <a:cs typeface="Arial MT"/>
              </a:rPr>
              <a:t>Uniform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(30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60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40" dirty="0">
                <a:latin typeface="Arial MT"/>
                <a:cs typeface="Arial MT"/>
              </a:rPr>
              <a:t>km/h)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000" dirty="0">
                <a:latin typeface="Arial MT"/>
                <a:cs typeface="Arial MT"/>
              </a:rPr>
              <a:t>Uniform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(20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120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40" dirty="0">
                <a:latin typeface="Arial MT"/>
                <a:cs typeface="Arial MT"/>
              </a:rPr>
              <a:t>km/h)</a:t>
            </a:r>
            <a:endParaRPr sz="1000">
              <a:latin typeface="Arial MT"/>
              <a:cs typeface="Arial MT"/>
            </a:endParaRPr>
          </a:p>
          <a:p>
            <a:pPr marL="38100" marR="594360" indent="-635">
              <a:lnSpc>
                <a:spcPct val="102899"/>
              </a:lnSpc>
            </a:pPr>
            <a:r>
              <a:rPr sz="1000" dirty="0">
                <a:latin typeface="Arial MT"/>
                <a:cs typeface="Arial MT"/>
              </a:rPr>
              <a:t>Uniform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(300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800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m)</a:t>
            </a:r>
            <a:r>
              <a:rPr sz="1000" spc="5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Uniform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(200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400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integer)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7664" y="2447079"/>
            <a:ext cx="3832860" cy="0"/>
          </a:xfrm>
          <a:custGeom>
            <a:avLst/>
            <a:gdLst/>
            <a:ahLst/>
            <a:cxnLst/>
            <a:rect l="l" t="t" r="r" b="b"/>
            <a:pathLst>
              <a:path w="3832860">
                <a:moveTo>
                  <a:pt x="0" y="0"/>
                </a:moveTo>
                <a:lnTo>
                  <a:pt x="3832653" y="0"/>
                </a:lnTo>
              </a:path>
            </a:pathLst>
          </a:custGeom>
          <a:ln w="10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2850451"/>
            <a:ext cx="59601" cy="596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3038741"/>
            <a:ext cx="59601" cy="5960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3830" y="2548096"/>
            <a:ext cx="4193540" cy="7429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00" b="1" spc="-20" dirty="0">
                <a:latin typeface="Arial"/>
                <a:cs typeface="Arial"/>
              </a:rPr>
              <a:t>Distributional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Modeling: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84"/>
              </a:spcBef>
            </a:pPr>
            <a:r>
              <a:rPr sz="1000" dirty="0">
                <a:latin typeface="Arial MT"/>
                <a:cs typeface="Arial MT"/>
              </a:rPr>
              <a:t>Initial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locations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follow</a:t>
            </a:r>
            <a:r>
              <a:rPr sz="1000" dirty="0">
                <a:latin typeface="Arial MT"/>
                <a:cs typeface="Arial MT"/>
              </a:rPr>
              <a:t> a </a:t>
            </a:r>
            <a:r>
              <a:rPr sz="1000" spc="-55" dirty="0">
                <a:latin typeface="Arial MT"/>
                <a:cs typeface="Arial MT"/>
              </a:rPr>
              <a:t>Poisson</a:t>
            </a:r>
            <a:r>
              <a:rPr sz="1000" dirty="0">
                <a:latin typeface="Arial MT"/>
                <a:cs typeface="Arial MT"/>
              </a:rPr>
              <a:t> Point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Process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(PPP).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80"/>
              </a:spcBef>
            </a:pPr>
            <a:r>
              <a:rPr sz="1000" b="1" dirty="0">
                <a:latin typeface="Arial"/>
                <a:cs typeface="Arial"/>
              </a:rPr>
              <a:t>Different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Speed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Model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(DSM):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Individual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speeds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</a:t>
            </a:r>
            <a:r>
              <a:rPr sz="1000" i="1" spc="-10" dirty="0">
                <a:latin typeface="Arial"/>
                <a:cs typeface="Arial"/>
              </a:rPr>
              <a:t>v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)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drawn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 </a:t>
            </a:r>
            <a:r>
              <a:rPr sz="1000" spc="-45" dirty="0">
                <a:latin typeface="Arial MT"/>
                <a:cs typeface="Arial MT"/>
              </a:rPr>
              <a:t>Rayleigh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Uniform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distribution.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7" name="object 17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6103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A0A0A0"/>
                </a:solidFill>
                <a:latin typeface="Arial"/>
                <a:cs typeface="Arial"/>
              </a:rPr>
              <a:t>Randomized</a:t>
            </a:r>
            <a:r>
              <a:rPr sz="900" b="1" spc="3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Algorithm</a:t>
            </a:r>
            <a:r>
              <a:rPr sz="900" b="1" spc="3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Design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207591"/>
            <a:ext cx="2339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Introducing</a:t>
            </a:r>
            <a:r>
              <a:rPr spc="10" dirty="0"/>
              <a:t> </a:t>
            </a:r>
            <a:r>
              <a:rPr spc="-10" dirty="0"/>
              <a:t>Parameter</a:t>
            </a:r>
            <a:r>
              <a:rPr spc="10" dirty="0"/>
              <a:t> </a:t>
            </a:r>
            <a:r>
              <a:rPr spc="-25" dirty="0"/>
              <a:t>Variability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966089"/>
            <a:ext cx="59601" cy="596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51801" y="117753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307719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649336"/>
            <a:ext cx="59601" cy="596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3830" y="661257"/>
            <a:ext cx="4381500" cy="12401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30" dirty="0">
                <a:latin typeface="Arial"/>
                <a:cs typeface="Arial"/>
              </a:rPr>
              <a:t>Design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and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Decision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Component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ts val="1200"/>
              </a:lnSpc>
              <a:spcBef>
                <a:spcPts val="295"/>
              </a:spcBef>
            </a:pPr>
            <a:r>
              <a:rPr sz="1000" spc="-80" dirty="0">
                <a:latin typeface="Arial MT"/>
                <a:cs typeface="Arial MT"/>
              </a:rPr>
              <a:t>Randomness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introduced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0" dirty="0">
                <a:latin typeface="Arial MT"/>
                <a:cs typeface="Arial MT"/>
              </a:rPr>
              <a:t> central </a:t>
            </a:r>
            <a:r>
              <a:rPr sz="1000" spc="-35" dirty="0">
                <a:latin typeface="Arial MT"/>
                <a:cs typeface="Arial MT"/>
              </a:rPr>
              <a:t>module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called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ts val="1200"/>
              </a:lnSpc>
            </a:pPr>
            <a:r>
              <a:rPr sz="1000" spc="10" dirty="0">
                <a:latin typeface="Calibri"/>
                <a:cs typeface="Calibri"/>
              </a:rPr>
              <a:t>randomised</a:t>
            </a:r>
            <a:r>
              <a:rPr sz="1000" spc="430" dirty="0">
                <a:latin typeface="Calibri"/>
                <a:cs typeface="Calibri"/>
              </a:rPr>
              <a:t> </a:t>
            </a:r>
            <a:r>
              <a:rPr sz="1000" spc="85" dirty="0">
                <a:latin typeface="Calibri"/>
                <a:cs typeface="Calibri"/>
              </a:rPr>
              <a:t>config.py</a:t>
            </a:r>
            <a:r>
              <a:rPr sz="1000" spc="85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265430" marR="14859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module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draws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five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key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physical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Uniform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distributions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each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run.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nearest-</a:t>
            </a:r>
            <a:r>
              <a:rPr sz="1000" spc="-35" dirty="0">
                <a:latin typeface="Arial MT"/>
                <a:cs typeface="Arial MT"/>
              </a:rPr>
              <a:t>neighbor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decision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rule, </a:t>
            </a:r>
            <a:r>
              <a:rPr sz="1000" spc="-45" dirty="0">
                <a:latin typeface="Arial MT"/>
                <a:cs typeface="Arial MT"/>
              </a:rPr>
              <a:t>handover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detection</a:t>
            </a:r>
            <a:r>
              <a:rPr sz="1000" spc="-10" dirty="0">
                <a:latin typeface="Arial MT"/>
                <a:cs typeface="Arial MT"/>
              </a:rPr>
              <a:t> logic, </a:t>
            </a:r>
            <a:r>
              <a:rPr sz="1000" spc="-3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straight-line </a:t>
            </a:r>
            <a:r>
              <a:rPr sz="1000" spc="-35" dirty="0">
                <a:latin typeface="Arial MT"/>
                <a:cs typeface="Arial MT"/>
              </a:rPr>
              <a:t>drone </a:t>
            </a:r>
            <a:r>
              <a:rPr sz="1000" dirty="0">
                <a:latin typeface="Arial MT"/>
                <a:cs typeface="Arial MT"/>
              </a:rPr>
              <a:t>motion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remain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exactly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as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were</a:t>
            </a:r>
            <a:r>
              <a:rPr sz="1000" dirty="0">
                <a:latin typeface="Arial MT"/>
                <a:cs typeface="Arial MT"/>
              </a:rPr>
              <a:t> in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baseline.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6027" y="2249604"/>
            <a:ext cx="24358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7F1213"/>
                </a:solidFill>
                <a:latin typeface="Arial MT"/>
                <a:cs typeface="Arial MT"/>
              </a:rPr>
              <a:t>Table:</a:t>
            </a:r>
            <a:r>
              <a:rPr sz="700" spc="15" dirty="0">
                <a:solidFill>
                  <a:srgbClr val="7F1213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Parameter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Comparison: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Deterministic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vs.</a:t>
            </a:r>
            <a:r>
              <a:rPr sz="700" spc="9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Randomized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77369" y="2473299"/>
          <a:ext cx="3930015" cy="70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08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750" b="1" spc="-10" dirty="0">
                          <a:latin typeface="Arial"/>
                          <a:cs typeface="Arial"/>
                        </a:rPr>
                        <a:t>Parameter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750" b="1" spc="75" dirty="0">
                          <a:latin typeface="Arial"/>
                          <a:cs typeface="Arial"/>
                        </a:rPr>
                        <a:t>M3 </a:t>
                      </a:r>
                      <a:r>
                        <a:rPr sz="750" b="1" dirty="0">
                          <a:latin typeface="Arial"/>
                          <a:cs typeface="Arial"/>
                        </a:rPr>
                        <a:t>Deterministic</a:t>
                      </a:r>
                      <a:r>
                        <a:rPr sz="75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latin typeface="Arial"/>
                          <a:cs typeface="Arial"/>
                        </a:rPr>
                        <a:t>(Fixed)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750" b="1" spc="75" dirty="0">
                          <a:latin typeface="Arial"/>
                          <a:cs typeface="Arial"/>
                        </a:rPr>
                        <a:t>M4</a:t>
                      </a:r>
                      <a:r>
                        <a:rPr sz="750" b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latin typeface="Arial"/>
                          <a:cs typeface="Arial"/>
                        </a:rPr>
                        <a:t>Randomized</a:t>
                      </a:r>
                      <a:r>
                        <a:rPr sz="75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dirty="0">
                          <a:latin typeface="Arial"/>
                          <a:cs typeface="Arial"/>
                        </a:rPr>
                        <a:t>(Actual</a:t>
                      </a:r>
                      <a:r>
                        <a:rPr sz="75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latin typeface="Arial"/>
                          <a:cs typeface="Arial"/>
                        </a:rPr>
                        <a:t>Draw)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Density</a:t>
                      </a:r>
                      <a:r>
                        <a:rPr sz="7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35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750" i="1" spc="35" dirty="0">
                          <a:latin typeface="Calibri"/>
                          <a:cs typeface="Calibri"/>
                        </a:rPr>
                        <a:t>λ</a:t>
                      </a:r>
                      <a:r>
                        <a:rPr sz="825" spc="52" baseline="-10101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750" spc="35" dirty="0">
                          <a:latin typeface="Arial MT"/>
                          <a:cs typeface="Arial MT"/>
                        </a:rPr>
                        <a:t>)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750" spc="-1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50" i="1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00</a:t>
                      </a:r>
                      <a:r>
                        <a:rPr sz="7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i="1" spc="-10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750" i="1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825" spc="-15" baseline="30303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25" spc="-15" baseline="3030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750" i="1" spc="-1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825" spc="-15" baseline="30303" dirty="0">
                          <a:latin typeface="Arial MT"/>
                          <a:cs typeface="Arial MT"/>
                        </a:rPr>
                        <a:t>2</a:t>
                      </a:r>
                      <a:endParaRPr sz="825" baseline="30303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750" spc="-1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50" i="1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44</a:t>
                      </a:r>
                      <a:r>
                        <a:rPr sz="7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i="1" spc="-10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750" i="1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825" spc="-15" baseline="30303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825" spc="-15" baseline="3030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750" i="1" spc="-1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825" spc="-15" baseline="30303" dirty="0">
                          <a:latin typeface="Arial MT"/>
                          <a:cs typeface="Arial MT"/>
                        </a:rPr>
                        <a:t>2</a:t>
                      </a:r>
                      <a:endParaRPr sz="825" baseline="30303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L="59055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Mean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 Speed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734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45</a:t>
                      </a:r>
                      <a:r>
                        <a:rPr sz="750" i="1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7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km/h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6895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53</a:t>
                      </a:r>
                      <a:r>
                        <a:rPr sz="750" i="1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km/h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59055">
                        <a:lnSpc>
                          <a:spcPts val="819"/>
                        </a:lnSpc>
                      </a:pPr>
                      <a:r>
                        <a:rPr sz="750" spc="-10" dirty="0">
                          <a:latin typeface="Arial MT"/>
                          <a:cs typeface="Arial MT"/>
                        </a:rPr>
                        <a:t>Exclusion</a:t>
                      </a:r>
                      <a:r>
                        <a:rPr sz="7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Radius</a:t>
                      </a:r>
                      <a:r>
                        <a:rPr sz="7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750" i="1" spc="-2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25" spc="-30" baseline="-10101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)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500</a:t>
                      </a:r>
                      <a:r>
                        <a:rPr sz="7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0" dirty="0">
                          <a:latin typeface="Arial MT"/>
                          <a:cs typeface="Arial MT"/>
                        </a:rPr>
                        <a:t>m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819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335</a:t>
                      </a:r>
                      <a:r>
                        <a:rPr sz="750" i="1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7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0" dirty="0">
                          <a:latin typeface="Arial MT"/>
                          <a:cs typeface="Arial MT"/>
                        </a:rPr>
                        <a:t>m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59055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75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Window</a:t>
                      </a:r>
                      <a:r>
                        <a:rPr sz="7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6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750" i="1" spc="6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50" i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)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400</a:t>
                      </a:r>
                      <a:r>
                        <a:rPr sz="7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0" dirty="0"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750" dirty="0">
                          <a:latin typeface="Arial MT"/>
                          <a:cs typeface="Arial MT"/>
                        </a:rPr>
                        <a:t>272</a:t>
                      </a:r>
                      <a:r>
                        <a:rPr sz="7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50" dirty="0"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7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24053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0" dirty="0">
                <a:solidFill>
                  <a:srgbClr val="A0A0A0"/>
                </a:solidFill>
                <a:latin typeface="Arial"/>
                <a:cs typeface="Arial"/>
              </a:rPr>
              <a:t>Probabilistic</a:t>
            </a:r>
            <a:r>
              <a:rPr sz="900" b="1" spc="4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A0A0A0"/>
                </a:solidFill>
                <a:latin typeface="Arial"/>
                <a:cs typeface="Arial"/>
              </a:rPr>
              <a:t>Reasoning</a:t>
            </a:r>
            <a:r>
              <a:rPr sz="900" b="1" spc="4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Behind</a:t>
            </a:r>
            <a:r>
              <a:rPr sz="900" b="1" spc="4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the</a:t>
            </a:r>
            <a:r>
              <a:rPr sz="900" b="1" spc="4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Algorithm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40" dirty="0"/>
              <a:t>Anchor</a:t>
            </a:r>
            <a:r>
              <a:rPr spc="20" dirty="0"/>
              <a:t> </a:t>
            </a:r>
            <a:r>
              <a:rPr dirty="0"/>
              <a:t>Drone</a:t>
            </a:r>
            <a:r>
              <a:rPr spc="20" dirty="0"/>
              <a:t> </a:t>
            </a:r>
            <a:r>
              <a:rPr spc="-35" dirty="0"/>
              <a:t>Concept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052512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830" y="747668"/>
            <a:ext cx="4368800" cy="7086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55" dirty="0">
                <a:latin typeface="Arial"/>
                <a:cs typeface="Arial"/>
              </a:rPr>
              <a:t>Addressing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Uncertainty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spc="-30" dirty="0">
                <a:latin typeface="Arial MT"/>
                <a:cs typeface="Arial MT"/>
              </a:rPr>
              <a:t>Testing </a:t>
            </a:r>
            <a:r>
              <a:rPr sz="1000" spc="-70" dirty="0">
                <a:latin typeface="Arial MT"/>
                <a:cs typeface="Arial MT"/>
              </a:rPr>
              <a:t>across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many</a:t>
            </a:r>
            <a:r>
              <a:rPr sz="1000" spc="-10" dirty="0">
                <a:latin typeface="Arial MT"/>
                <a:cs typeface="Arial MT"/>
              </a:rPr>
              <a:t> different </a:t>
            </a:r>
            <a:r>
              <a:rPr sz="1000" spc="-30" dirty="0">
                <a:latin typeface="Arial MT"/>
                <a:cs typeface="Arial MT"/>
              </a:rPr>
              <a:t>randomly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drawn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settings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provides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much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more </a:t>
            </a:r>
            <a:r>
              <a:rPr sz="1000" spc="-35" dirty="0">
                <a:latin typeface="Arial MT"/>
                <a:cs typeface="Arial MT"/>
              </a:rPr>
              <a:t>convincing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robust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conclusion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than</a:t>
            </a:r>
            <a:r>
              <a:rPr sz="1000" spc="-10" dirty="0">
                <a:latin typeface="Arial MT"/>
                <a:cs typeface="Arial MT"/>
              </a:rPr>
              <a:t> testing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single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hand-</a:t>
            </a:r>
            <a:r>
              <a:rPr sz="1000" spc="-40" dirty="0">
                <a:latin typeface="Arial MT"/>
                <a:cs typeface="Arial MT"/>
              </a:rPr>
              <a:t>picked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set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of </a:t>
            </a:r>
            <a:r>
              <a:rPr sz="1000" spc="-10" dirty="0">
                <a:latin typeface="Arial MT"/>
                <a:cs typeface="Arial MT"/>
              </a:rPr>
              <a:t>values.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729" y="1701520"/>
            <a:ext cx="4457065" cy="198755"/>
          </a:xfrm>
          <a:custGeom>
            <a:avLst/>
            <a:gdLst/>
            <a:ahLst/>
            <a:cxnLst/>
            <a:rect l="l" t="t" r="r" b="b"/>
            <a:pathLst>
              <a:path w="4457065" h="198755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56606" y="198367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530" y="1729980"/>
            <a:ext cx="29000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2EFEB"/>
                </a:solidFill>
                <a:latin typeface="Tahoma"/>
                <a:cs typeface="Tahoma"/>
              </a:rPr>
              <a:t>Why</a:t>
            </a:r>
            <a:r>
              <a:rPr sz="1200" spc="-15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2EFEB"/>
                </a:solidFill>
                <a:latin typeface="Tahoma"/>
                <a:cs typeface="Tahoma"/>
              </a:rPr>
              <a:t>Randomization</a:t>
            </a:r>
            <a:r>
              <a:rPr sz="1200" spc="-10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95" dirty="0">
                <a:solidFill>
                  <a:srgbClr val="F2EFEB"/>
                </a:solidFill>
                <a:latin typeface="Tahoma"/>
                <a:cs typeface="Tahoma"/>
              </a:rPr>
              <a:t>Improves</a:t>
            </a:r>
            <a:r>
              <a:rPr sz="1200" spc="5" dirty="0">
                <a:solidFill>
                  <a:srgbClr val="F2EFEB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2EFEB"/>
                </a:solidFill>
                <a:latin typeface="Tahoma"/>
                <a:cs typeface="Tahoma"/>
              </a:rPr>
              <a:t>System</a:t>
            </a:r>
            <a:r>
              <a:rPr sz="1200" spc="-10" dirty="0">
                <a:solidFill>
                  <a:srgbClr val="F2EFEB"/>
                </a:solidFill>
                <a:latin typeface="Tahoma"/>
                <a:cs typeface="Tahoma"/>
              </a:rPr>
              <a:t> Stability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729" y="1758441"/>
            <a:ext cx="4507865" cy="1393190"/>
            <a:chOff x="75729" y="1758441"/>
            <a:chExt cx="4507865" cy="13931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1887245"/>
              <a:ext cx="4456607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6530" y="1758441"/>
              <a:ext cx="4457065" cy="1393190"/>
            </a:xfrm>
            <a:custGeom>
              <a:avLst/>
              <a:gdLst/>
              <a:ahLst/>
              <a:cxnLst/>
              <a:rect l="l" t="t" r="r" b="b"/>
              <a:pathLst>
                <a:path w="4457065" h="1393189">
                  <a:moveTo>
                    <a:pt x="4456607" y="0"/>
                  </a:moveTo>
                  <a:lnTo>
                    <a:pt x="0" y="0"/>
                  </a:lnTo>
                  <a:lnTo>
                    <a:pt x="0" y="1392975"/>
                  </a:lnTo>
                  <a:lnTo>
                    <a:pt x="4456607" y="1392975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729" y="1931504"/>
              <a:ext cx="4457065" cy="1169670"/>
            </a:xfrm>
            <a:custGeom>
              <a:avLst/>
              <a:gdLst/>
              <a:ahLst/>
              <a:cxnLst/>
              <a:rect l="l" t="t" r="r" b="b"/>
              <a:pathLst>
                <a:path w="4457065" h="1169670">
                  <a:moveTo>
                    <a:pt x="4456606" y="0"/>
                  </a:moveTo>
                  <a:lnTo>
                    <a:pt x="0" y="0"/>
                  </a:lnTo>
                  <a:lnTo>
                    <a:pt x="0" y="1118312"/>
                  </a:lnTo>
                  <a:lnTo>
                    <a:pt x="4008" y="1138036"/>
                  </a:lnTo>
                  <a:lnTo>
                    <a:pt x="14922" y="1154189"/>
                  </a:lnTo>
                  <a:lnTo>
                    <a:pt x="31075" y="1165104"/>
                  </a:lnTo>
                  <a:lnTo>
                    <a:pt x="50800" y="1169112"/>
                  </a:lnTo>
                  <a:lnTo>
                    <a:pt x="4405806" y="1169112"/>
                  </a:lnTo>
                  <a:lnTo>
                    <a:pt x="4425531" y="1165104"/>
                  </a:lnTo>
                  <a:lnTo>
                    <a:pt x="4441684" y="1154189"/>
                  </a:lnTo>
                  <a:lnTo>
                    <a:pt x="4452598" y="1138036"/>
                  </a:lnTo>
                  <a:lnTo>
                    <a:pt x="4456606" y="1118312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2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982559"/>
              <a:ext cx="59601" cy="596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2324176"/>
              <a:ext cx="59601" cy="596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2665793"/>
              <a:ext cx="59601" cy="596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66877" y="1905462"/>
            <a:ext cx="4050029" cy="1164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Deterministic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SSM: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All </a:t>
            </a:r>
            <a:r>
              <a:rPr sz="1000" spc="-50" dirty="0">
                <a:latin typeface="Arial MT"/>
                <a:cs typeface="Arial MT"/>
              </a:rPr>
              <a:t>drones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move</a:t>
            </a:r>
            <a:r>
              <a:rPr sz="1000" dirty="0">
                <a:latin typeface="Arial MT"/>
                <a:cs typeface="Arial MT"/>
              </a:rPr>
              <a:t> at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exact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same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speed.</a:t>
            </a:r>
            <a:r>
              <a:rPr sz="1000" spc="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30" dirty="0">
                <a:latin typeface="Arial MT"/>
                <a:cs typeface="Arial MT"/>
              </a:rPr>
              <a:t>swarm </a:t>
            </a:r>
            <a:r>
              <a:rPr sz="1000" spc="-10" dirty="0">
                <a:latin typeface="Arial MT"/>
                <a:cs typeface="Arial MT"/>
              </a:rPr>
              <a:t>shifts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uniformly,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forcing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rapid,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unavoidable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handovers.</a:t>
            </a:r>
            <a:endParaRPr sz="1000">
              <a:latin typeface="Arial MT"/>
              <a:cs typeface="Arial MT"/>
            </a:endParaRPr>
          </a:p>
          <a:p>
            <a:pPr marL="12700" marR="376555">
              <a:lnSpc>
                <a:spcPct val="100000"/>
              </a:lnSpc>
              <a:spcBef>
                <a:spcPts val="290"/>
              </a:spcBef>
            </a:pPr>
            <a:r>
              <a:rPr sz="1000" b="1" spc="-35" dirty="0">
                <a:latin typeface="Arial"/>
                <a:cs typeface="Arial"/>
              </a:rPr>
              <a:t>Randomized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DSM: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Each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gets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 </a:t>
            </a:r>
            <a:r>
              <a:rPr sz="1000" spc="-10" dirty="0">
                <a:latin typeface="Arial MT"/>
                <a:cs typeface="Arial MT"/>
              </a:rPr>
              <a:t>different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speed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drawn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 </a:t>
            </a:r>
            <a:r>
              <a:rPr sz="1000" spc="-10" dirty="0">
                <a:latin typeface="Arial MT"/>
                <a:cs typeface="Arial MT"/>
              </a:rPr>
              <a:t>distribution.</a:t>
            </a:r>
            <a:endParaRPr sz="1000">
              <a:latin typeface="Arial MT"/>
              <a:cs typeface="Arial MT"/>
            </a:endParaRPr>
          </a:p>
          <a:p>
            <a:pPr marL="12700" marR="128270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Result: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Drones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randomly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draw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slow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speeds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as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natural </a:t>
            </a:r>
            <a:r>
              <a:rPr sz="1000" dirty="0">
                <a:latin typeface="Arial MT"/>
                <a:cs typeface="Arial MT"/>
              </a:rPr>
              <a:t>“anchors.”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They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stay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closest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user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much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longer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before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 </a:t>
            </a:r>
            <a:r>
              <a:rPr sz="1000" spc="-20" dirty="0">
                <a:latin typeface="Arial MT"/>
                <a:cs typeface="Arial MT"/>
              </a:rPr>
              <a:t>faster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can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overtake</a:t>
            </a:r>
            <a:r>
              <a:rPr sz="1000" spc="-10" dirty="0">
                <a:latin typeface="Arial MT"/>
                <a:cs typeface="Arial MT"/>
              </a:rPr>
              <a:t> them,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naturally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filtering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connection</a:t>
            </a:r>
            <a:r>
              <a:rPr sz="1000" spc="-10" dirty="0">
                <a:latin typeface="Arial MT"/>
                <a:cs typeface="Arial MT"/>
              </a:rPr>
              <a:t> stability.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9" name="object 19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8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2352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A0A0A0"/>
                </a:solidFill>
                <a:latin typeface="Arial"/>
                <a:cs typeface="Arial"/>
              </a:rPr>
              <a:t>Implementation</a:t>
            </a:r>
            <a:r>
              <a:rPr sz="900" b="1" spc="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of</a:t>
            </a:r>
            <a:r>
              <a:rPr sz="900" b="1" spc="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the</a:t>
            </a:r>
            <a:r>
              <a:rPr sz="900" b="1" spc="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A0A0A0"/>
                </a:solidFill>
                <a:latin typeface="Arial"/>
                <a:cs typeface="Arial"/>
              </a:rPr>
              <a:t>Randomized</a:t>
            </a:r>
            <a:r>
              <a:rPr sz="900" b="1" spc="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Strategy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207591"/>
            <a:ext cx="207581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Simulation</a:t>
            </a:r>
            <a:r>
              <a:rPr spc="20" dirty="0"/>
              <a:t> </a:t>
            </a:r>
            <a:r>
              <a:rPr spc="-25" dirty="0"/>
              <a:t>Pipeline</a:t>
            </a:r>
            <a:r>
              <a:rPr spc="25" dirty="0"/>
              <a:t> </a:t>
            </a:r>
            <a:r>
              <a:rPr spc="-35" dirty="0"/>
              <a:t>Workflow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982624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830" y="677780"/>
            <a:ext cx="4126865" cy="5568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Integration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Arial MT"/>
                <a:cs typeface="Arial MT"/>
              </a:rPr>
              <a:t>A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save-and-</a:t>
            </a:r>
            <a:r>
              <a:rPr sz="1000" spc="-30" dirty="0">
                <a:latin typeface="Arial MT"/>
                <a:cs typeface="Arial MT"/>
              </a:rPr>
              <a:t>load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system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guarantees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simulation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theoretical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scripts </a:t>
            </a:r>
            <a:r>
              <a:rPr sz="1000" spc="-40" dirty="0">
                <a:latin typeface="Arial MT"/>
                <a:cs typeface="Arial MT"/>
              </a:rPr>
              <a:t>evaluate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exact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same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randomized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configurations.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729" y="1432407"/>
            <a:ext cx="4457065" cy="187960"/>
          </a:xfrm>
          <a:custGeom>
            <a:avLst/>
            <a:gdLst/>
            <a:ahLst/>
            <a:cxnLst/>
            <a:rect l="l" t="t" r="r" b="b"/>
            <a:pathLst>
              <a:path w="4457065" h="187959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56606" y="187823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530" y="1460855"/>
            <a:ext cx="12331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2EFEB"/>
                </a:solidFill>
                <a:latin typeface="Tahoma"/>
                <a:cs typeface="Tahoma"/>
              </a:rPr>
              <a:t>Execution </a:t>
            </a:r>
            <a:r>
              <a:rPr sz="1200" spc="-60" dirty="0">
                <a:solidFill>
                  <a:srgbClr val="F2EFEB"/>
                </a:solidFill>
                <a:latin typeface="Tahoma"/>
                <a:cs typeface="Tahoma"/>
              </a:rPr>
              <a:t>Workflow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729" y="1489322"/>
            <a:ext cx="4507865" cy="1767205"/>
            <a:chOff x="75729" y="1489322"/>
            <a:chExt cx="4507865" cy="17672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1607578"/>
              <a:ext cx="4456607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6530" y="1489322"/>
              <a:ext cx="4457065" cy="1767205"/>
            </a:xfrm>
            <a:custGeom>
              <a:avLst/>
              <a:gdLst/>
              <a:ahLst/>
              <a:cxnLst/>
              <a:rect l="l" t="t" r="r" b="b"/>
              <a:pathLst>
                <a:path w="4457065" h="1767204">
                  <a:moveTo>
                    <a:pt x="4456607" y="0"/>
                  </a:moveTo>
                  <a:lnTo>
                    <a:pt x="0" y="0"/>
                  </a:lnTo>
                  <a:lnTo>
                    <a:pt x="0" y="1766933"/>
                  </a:lnTo>
                  <a:lnTo>
                    <a:pt x="4456607" y="1766933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729" y="1651840"/>
              <a:ext cx="4457065" cy="1553845"/>
            </a:xfrm>
            <a:custGeom>
              <a:avLst/>
              <a:gdLst/>
              <a:ahLst/>
              <a:cxnLst/>
              <a:rect l="l" t="t" r="r" b="b"/>
              <a:pathLst>
                <a:path w="4457065" h="1553845">
                  <a:moveTo>
                    <a:pt x="4456606" y="0"/>
                  </a:moveTo>
                  <a:lnTo>
                    <a:pt x="0" y="0"/>
                  </a:lnTo>
                  <a:lnTo>
                    <a:pt x="0" y="1502813"/>
                  </a:lnTo>
                  <a:lnTo>
                    <a:pt x="4008" y="1522538"/>
                  </a:lnTo>
                  <a:lnTo>
                    <a:pt x="14922" y="1538691"/>
                  </a:lnTo>
                  <a:lnTo>
                    <a:pt x="31075" y="1549605"/>
                  </a:lnTo>
                  <a:lnTo>
                    <a:pt x="50800" y="1553614"/>
                  </a:lnTo>
                  <a:lnTo>
                    <a:pt x="4405806" y="1553614"/>
                  </a:lnTo>
                  <a:lnTo>
                    <a:pt x="4425531" y="1549605"/>
                  </a:lnTo>
                  <a:lnTo>
                    <a:pt x="4441684" y="1538691"/>
                  </a:lnTo>
                  <a:lnTo>
                    <a:pt x="4452598" y="1522538"/>
                  </a:lnTo>
                  <a:lnTo>
                    <a:pt x="4456606" y="1502813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F2E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924" y="1681254"/>
              <a:ext cx="104301" cy="10430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0581" y="167187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7924" y="1764881"/>
            <a:ext cx="3137535" cy="362585"/>
            <a:chOff x="207924" y="1764881"/>
            <a:chExt cx="3137535" cy="362585"/>
          </a:xfrm>
        </p:grpSpPr>
        <p:sp>
          <p:nvSpPr>
            <p:cNvPr id="17" name="object 17"/>
            <p:cNvSpPr/>
            <p:nvPr/>
          </p:nvSpPr>
          <p:spPr>
            <a:xfrm>
              <a:off x="1435252" y="1767421"/>
              <a:ext cx="4000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5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82343" y="1767421"/>
              <a:ext cx="4000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5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2596" y="1767421"/>
              <a:ext cx="40005" cy="0"/>
            </a:xfrm>
            <a:custGeom>
              <a:avLst/>
              <a:gdLst/>
              <a:ahLst/>
              <a:cxnLst/>
              <a:rect l="l" t="t" r="r" b="b"/>
              <a:pathLst>
                <a:path w="40004">
                  <a:moveTo>
                    <a:pt x="0" y="0"/>
                  </a:moveTo>
                  <a:lnTo>
                    <a:pt x="3985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24" y="2022871"/>
              <a:ext cx="104301" cy="1043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30581" y="201349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24" y="2212660"/>
            <a:ext cx="104301" cy="10430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30581" y="220328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7924" y="2554278"/>
            <a:ext cx="104301" cy="10430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30581" y="254489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924" y="2895895"/>
            <a:ext cx="104301" cy="10430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30581" y="288651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44587" y="298206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6877" y="1630723"/>
            <a:ext cx="3965575" cy="1544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Sample:</a:t>
            </a:r>
            <a:r>
              <a:rPr sz="1000" b="1" spc="229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handover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dbs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spc="100" dirty="0">
                <a:latin typeface="Calibri"/>
                <a:cs typeface="Calibri"/>
              </a:rPr>
              <a:t>simulation.py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spc="-30" dirty="0">
                <a:latin typeface="Arial MT"/>
                <a:cs typeface="Arial MT"/>
              </a:rPr>
              <a:t>calls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Calibri"/>
                <a:cs typeface="Calibri"/>
              </a:rPr>
              <a:t>sample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65" dirty="0">
                <a:latin typeface="Calibri"/>
                <a:cs typeface="Calibri"/>
              </a:rPr>
              <a:t>params()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draw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variables.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20" dirty="0">
                <a:latin typeface="Arial"/>
                <a:cs typeface="Arial"/>
              </a:rPr>
              <a:t>Save: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saved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immediately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 </a:t>
            </a:r>
            <a:r>
              <a:rPr sz="1000" spc="-10" dirty="0">
                <a:latin typeface="Arial MT"/>
                <a:cs typeface="Arial MT"/>
              </a:rPr>
              <a:t>local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JSON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file.</a:t>
            </a:r>
            <a:endParaRPr sz="1000">
              <a:latin typeface="Arial MT"/>
              <a:cs typeface="Arial MT"/>
            </a:endParaRPr>
          </a:p>
          <a:p>
            <a:pPr marL="12700" marR="19685">
              <a:lnSpc>
                <a:spcPct val="100000"/>
              </a:lnSpc>
              <a:spcBef>
                <a:spcPts val="295"/>
              </a:spcBef>
            </a:pPr>
            <a:r>
              <a:rPr sz="1000" b="1" spc="-10" dirty="0">
                <a:latin typeface="Arial"/>
                <a:cs typeface="Arial"/>
              </a:rPr>
              <a:t>Simulate: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10,000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Monte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Carlo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realizations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run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using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sampled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density, </a:t>
            </a:r>
            <a:r>
              <a:rPr sz="1000" spc="-75" dirty="0">
                <a:latin typeface="Arial MT"/>
                <a:cs typeface="Arial MT"/>
              </a:rPr>
              <a:t>speeds,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vectors.</a:t>
            </a:r>
            <a:endParaRPr sz="1000">
              <a:latin typeface="Arial MT"/>
              <a:cs typeface="Arial MT"/>
            </a:endParaRPr>
          </a:p>
          <a:p>
            <a:pPr marL="12700" marR="116205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Validate: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spc="-25" dirty="0">
                <a:latin typeface="Arial MT"/>
                <a:cs typeface="Arial MT"/>
              </a:rPr>
              <a:t>Theory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scripts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read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30" dirty="0">
                <a:latin typeface="Arial MT"/>
                <a:cs typeface="Arial MT"/>
              </a:rPr>
              <a:t>exact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same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JSON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file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compute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20" dirty="0">
                <a:latin typeface="Arial MT"/>
                <a:cs typeface="Arial MT"/>
              </a:rPr>
              <a:t>analytical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integrals.</a:t>
            </a:r>
            <a:endParaRPr sz="1000">
              <a:latin typeface="Arial MT"/>
              <a:cs typeface="Arial MT"/>
            </a:endParaRPr>
          </a:p>
          <a:p>
            <a:pPr marL="12700" marR="28321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Evaluate: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spc="114" dirty="0">
                <a:latin typeface="Calibri"/>
                <a:cs typeface="Calibri"/>
              </a:rPr>
              <a:t>plot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55" dirty="0">
                <a:latin typeface="Calibri"/>
                <a:cs typeface="Calibri"/>
              </a:rPr>
              <a:t>handover.py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spc="-55" dirty="0">
                <a:latin typeface="Arial MT"/>
                <a:cs typeface="Arial MT"/>
              </a:rPr>
              <a:t>aggregates</a:t>
            </a:r>
            <a:r>
              <a:rPr sz="1000" dirty="0">
                <a:latin typeface="Arial MT"/>
                <a:cs typeface="Arial MT"/>
              </a:rPr>
              <a:t>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outputs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generates </a:t>
            </a:r>
            <a:r>
              <a:rPr sz="1000" spc="-35" dirty="0">
                <a:latin typeface="Arial MT"/>
                <a:cs typeface="Arial MT"/>
              </a:rPr>
              <a:t>comparative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figures.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31" name="object 31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9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0020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Evaluation</a:t>
            </a:r>
            <a:r>
              <a:rPr sz="900" b="1" spc="50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A0A0A0"/>
                </a:solidFill>
                <a:latin typeface="Arial"/>
                <a:cs typeface="Arial"/>
              </a:rPr>
              <a:t>Metrics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Domain-</a:t>
            </a:r>
            <a:r>
              <a:rPr spc="-30" dirty="0"/>
              <a:t>Specific</a:t>
            </a:r>
            <a:r>
              <a:rPr spc="75" dirty="0"/>
              <a:t> </a:t>
            </a:r>
            <a:r>
              <a:rPr spc="-45" dirty="0"/>
              <a:t>Indicators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960882"/>
            <a:ext cx="59601" cy="59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6877" y="883785"/>
            <a:ext cx="4127500" cy="217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653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Handover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Probability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Arial MT"/>
                <a:cs typeface="Arial MT"/>
              </a:rPr>
              <a:t>[</a:t>
            </a:r>
            <a:r>
              <a:rPr sz="1000" i="1" dirty="0">
                <a:latin typeface="Arial"/>
                <a:cs typeface="Arial"/>
              </a:rPr>
              <a:t>H</a:t>
            </a:r>
            <a:r>
              <a:rPr sz="1000" dirty="0">
                <a:latin typeface="Arial MT"/>
                <a:cs typeface="Arial MT"/>
              </a:rPr>
              <a:t>(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00" dirty="0">
                <a:latin typeface="Arial MT"/>
                <a:cs typeface="Arial MT"/>
              </a:rPr>
              <a:t>)]</a:t>
            </a:r>
            <a:r>
              <a:rPr sz="1000" b="1" dirty="0">
                <a:latin typeface="Arial"/>
                <a:cs typeface="Arial"/>
              </a:rPr>
              <a:t>:</a:t>
            </a:r>
            <a:r>
              <a:rPr sz="1000" b="1" spc="14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foundational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metric.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Measures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20" dirty="0">
                <a:latin typeface="Arial MT"/>
                <a:cs typeface="Arial MT"/>
              </a:rPr>
              <a:t>probability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ground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user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has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had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switch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their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drone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connection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at least</a:t>
            </a:r>
            <a:r>
              <a:rPr sz="1000" spc="-45" dirty="0">
                <a:latin typeface="Arial MT"/>
                <a:cs typeface="Arial MT"/>
              </a:rPr>
              <a:t> once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i="1" spc="50" dirty="0">
                <a:latin typeface="Arial"/>
                <a:cs typeface="Arial"/>
              </a:rPr>
              <a:t>t</a:t>
            </a:r>
            <a:r>
              <a:rPr sz="1000" spc="5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 marR="116839">
              <a:lnSpc>
                <a:spcPct val="100000"/>
              </a:lnSpc>
              <a:spcBef>
                <a:spcPts val="850"/>
              </a:spcBef>
            </a:pPr>
            <a:r>
              <a:rPr sz="1000" b="1" spc="-25" dirty="0">
                <a:latin typeface="Arial"/>
                <a:cs typeface="Arial"/>
              </a:rPr>
              <a:t>Expected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Communication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Cost:</a:t>
            </a:r>
            <a:r>
              <a:rPr sz="1000" b="1" spc="95" dirty="0">
                <a:latin typeface="Arial"/>
                <a:cs typeface="Arial"/>
              </a:rPr>
              <a:t> </a:t>
            </a:r>
            <a:r>
              <a:rPr sz="1000" spc="-60" dirty="0">
                <a:latin typeface="Arial MT"/>
                <a:cs typeface="Arial MT"/>
              </a:rPr>
              <a:t>Measures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resource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utilization.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lower </a:t>
            </a:r>
            <a:r>
              <a:rPr sz="1000" spc="-45" dirty="0">
                <a:latin typeface="Arial MT"/>
                <a:cs typeface="Arial MT"/>
              </a:rPr>
              <a:t>handover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probability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directly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means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less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signaling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overhead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(authentication, </a:t>
            </a:r>
            <a:r>
              <a:rPr sz="1000" spc="-55" dirty="0">
                <a:latin typeface="Arial MT"/>
                <a:cs typeface="Arial MT"/>
              </a:rPr>
              <a:t>resource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allocation)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better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bandwidth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preservation.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855"/>
              </a:spcBef>
            </a:pPr>
            <a:r>
              <a:rPr sz="1000" b="1" spc="-30" dirty="0">
                <a:latin typeface="Arial"/>
                <a:cs typeface="Arial"/>
              </a:rPr>
              <a:t>Accumulated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Latency: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60" dirty="0">
                <a:latin typeface="Arial MT"/>
                <a:cs typeface="Arial MT"/>
              </a:rPr>
              <a:t>Measures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user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experience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via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service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interruption. </a:t>
            </a:r>
            <a:r>
              <a:rPr sz="1000" spc="-50" dirty="0">
                <a:latin typeface="Arial MT"/>
                <a:cs typeface="Arial MT"/>
              </a:rPr>
              <a:t>Each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handover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causes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approximate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40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ms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interruption;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delaying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handovers </a:t>
            </a:r>
            <a:r>
              <a:rPr sz="1000" spc="-70" dirty="0">
                <a:latin typeface="Arial MT"/>
                <a:cs typeface="Arial MT"/>
              </a:rPr>
              <a:t>reduces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latency.</a:t>
            </a:r>
            <a:endParaRPr sz="1000">
              <a:latin typeface="Arial MT"/>
              <a:cs typeface="Arial MT"/>
            </a:endParaRPr>
          </a:p>
          <a:p>
            <a:pPr marL="12700" marR="207645" algn="just">
              <a:lnSpc>
                <a:spcPct val="100000"/>
              </a:lnSpc>
              <a:spcBef>
                <a:spcPts val="850"/>
              </a:spcBef>
            </a:pPr>
            <a:r>
              <a:rPr sz="1000" b="1" spc="-40" dirty="0">
                <a:latin typeface="Arial"/>
                <a:cs typeface="Arial"/>
              </a:rPr>
              <a:t>Connection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Stability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i="1" spc="-105" dirty="0">
                <a:latin typeface="Arial"/>
                <a:cs typeface="Arial"/>
              </a:rPr>
              <a:t>CS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 MT"/>
                <a:cs typeface="Arial MT"/>
              </a:rPr>
              <a:t>(</a:t>
            </a:r>
            <a:r>
              <a:rPr sz="1000" i="1" spc="50" dirty="0">
                <a:latin typeface="Arial"/>
                <a:cs typeface="Arial"/>
              </a:rPr>
              <a:t>t</a:t>
            </a:r>
            <a:r>
              <a:rPr sz="1000" spc="50" dirty="0">
                <a:latin typeface="Arial MT"/>
                <a:cs typeface="Arial MT"/>
              </a:rPr>
              <a:t>)</a:t>
            </a:r>
            <a:r>
              <a:rPr sz="1000" b="1" spc="50" dirty="0">
                <a:latin typeface="Arial"/>
                <a:cs typeface="Arial"/>
              </a:rPr>
              <a:t>:</a:t>
            </a:r>
            <a:r>
              <a:rPr sz="1000" b="1" spc="160" dirty="0">
                <a:latin typeface="Arial"/>
                <a:cs typeface="Arial"/>
              </a:rPr>
              <a:t> </a:t>
            </a:r>
            <a:r>
              <a:rPr sz="1000" spc="-40" dirty="0">
                <a:latin typeface="Arial MT"/>
                <a:cs typeface="Arial MT"/>
              </a:rPr>
              <a:t>Defined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mathematically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100" dirty="0">
                <a:latin typeface="Arial MT"/>
                <a:cs typeface="Arial MT"/>
              </a:rPr>
              <a:t>as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1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i="1" spc="-45" dirty="0">
                <a:latin typeface="Verdana"/>
                <a:cs typeface="Verdana"/>
              </a:rPr>
              <a:t>−</a:t>
            </a:r>
            <a:r>
              <a:rPr sz="1000" i="1" spc="-130" dirty="0">
                <a:latin typeface="Verdana"/>
                <a:cs typeface="Verdana"/>
              </a:rPr>
              <a:t> </a:t>
            </a:r>
            <a:r>
              <a:rPr sz="1000" i="1" spc="45" dirty="0">
                <a:latin typeface="Arial"/>
                <a:cs typeface="Arial"/>
              </a:rPr>
              <a:t>P</a:t>
            </a:r>
            <a:r>
              <a:rPr sz="1000" spc="45" dirty="0">
                <a:latin typeface="Arial MT"/>
                <a:cs typeface="Arial MT"/>
              </a:rPr>
              <a:t>[</a:t>
            </a:r>
            <a:r>
              <a:rPr sz="1000" i="1" spc="45" dirty="0">
                <a:latin typeface="Arial"/>
                <a:cs typeface="Arial"/>
              </a:rPr>
              <a:t>H</a:t>
            </a:r>
            <a:r>
              <a:rPr sz="1000" spc="45" dirty="0">
                <a:latin typeface="Arial MT"/>
                <a:cs typeface="Arial MT"/>
              </a:rPr>
              <a:t>(</a:t>
            </a:r>
            <a:r>
              <a:rPr sz="1000" i="1" spc="45" dirty="0">
                <a:latin typeface="Arial"/>
                <a:cs typeface="Arial"/>
              </a:rPr>
              <a:t>t</a:t>
            </a:r>
            <a:r>
              <a:rPr sz="1000" spc="45" dirty="0">
                <a:latin typeface="Arial MT"/>
                <a:cs typeface="Arial MT"/>
              </a:rPr>
              <a:t>)].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spc="40" dirty="0">
                <a:latin typeface="Arial MT"/>
                <a:cs typeface="Arial MT"/>
              </a:rPr>
              <a:t>It </a:t>
            </a:r>
            <a:r>
              <a:rPr sz="1000" spc="-80" dirty="0">
                <a:latin typeface="Arial MT"/>
                <a:cs typeface="Arial MT"/>
              </a:rPr>
              <a:t>measures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fraction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15" dirty="0">
                <a:latin typeface="Arial MT"/>
                <a:cs typeface="Arial MT"/>
              </a:rPr>
              <a:t>of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users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who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have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i="1" spc="-5" dirty="0">
                <a:latin typeface="Arial"/>
                <a:cs typeface="Arial"/>
              </a:rPr>
              <a:t>not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spc="-60" dirty="0">
                <a:latin typeface="Arial MT"/>
                <a:cs typeface="Arial MT"/>
              </a:rPr>
              <a:t>experienced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any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handover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 </a:t>
            </a:r>
            <a:r>
              <a:rPr sz="1000" spc="-20" dirty="0">
                <a:latin typeface="Arial MT"/>
                <a:cs typeface="Arial MT"/>
              </a:rPr>
              <a:t>time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i="1" spc="75" dirty="0">
                <a:latin typeface="Arial"/>
                <a:cs typeface="Arial"/>
              </a:rPr>
              <a:t>t</a:t>
            </a:r>
            <a:r>
              <a:rPr sz="1000" spc="75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526324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091778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657221"/>
            <a:ext cx="59601" cy="5960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10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8409"/>
            <a:ext cx="10947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A0A0A0"/>
                </a:solidFill>
                <a:latin typeface="Arial"/>
                <a:cs typeface="Arial"/>
              </a:rPr>
              <a:t>Comparative</a:t>
            </a:r>
            <a:r>
              <a:rPr sz="900" b="1" spc="1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A0A0A0"/>
                </a:solidFill>
                <a:latin typeface="Arial"/>
                <a:cs typeface="Arial"/>
              </a:rPr>
              <a:t>Results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Handover</a:t>
            </a:r>
            <a:r>
              <a:rPr spc="30" dirty="0"/>
              <a:t> </a:t>
            </a:r>
            <a:r>
              <a:rPr spc="-25" dirty="0"/>
              <a:t>Probability:</a:t>
            </a:r>
            <a:r>
              <a:rPr spc="150" dirty="0"/>
              <a:t> </a:t>
            </a:r>
            <a:r>
              <a:rPr dirty="0"/>
              <a:t>SSM</a:t>
            </a:r>
            <a:r>
              <a:rPr spc="30" dirty="0"/>
              <a:t> </a:t>
            </a:r>
            <a:r>
              <a:rPr spc="-45" dirty="0"/>
              <a:t>vs</a:t>
            </a:r>
            <a:r>
              <a:rPr spc="30" dirty="0"/>
              <a:t> </a:t>
            </a:r>
            <a:r>
              <a:rPr spc="25" dirty="0"/>
              <a:t>DSM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836" y="1111792"/>
            <a:ext cx="2341863" cy="13838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8213" y="2679105"/>
            <a:ext cx="15881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7F1213"/>
                </a:solidFill>
                <a:latin typeface="Arial MT"/>
                <a:cs typeface="Arial MT"/>
              </a:rPr>
              <a:t>Figure:</a:t>
            </a:r>
            <a:r>
              <a:rPr sz="700" spc="30" dirty="0">
                <a:solidFill>
                  <a:srgbClr val="7F1213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Handover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Probability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over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Time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4114" y="1191577"/>
            <a:ext cx="59601" cy="596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4114" y="1685023"/>
            <a:ext cx="59601" cy="596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94114" y="2330297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51239" y="886733"/>
            <a:ext cx="1948180" cy="199961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35" dirty="0">
                <a:latin typeface="Arial"/>
                <a:cs typeface="Arial"/>
              </a:rPr>
              <a:t>Performance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Comparison</a:t>
            </a:r>
            <a:endParaRPr sz="1000">
              <a:latin typeface="Arial"/>
              <a:cs typeface="Arial"/>
            </a:endParaRPr>
          </a:p>
          <a:p>
            <a:pPr marL="265430" marR="13335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Arial MT"/>
                <a:cs typeface="Arial MT"/>
              </a:rPr>
              <a:t>DSM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reaches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90%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handover </a:t>
            </a:r>
            <a:r>
              <a:rPr sz="1000" spc="-20" dirty="0">
                <a:latin typeface="Arial MT"/>
                <a:cs typeface="Arial MT"/>
              </a:rPr>
              <a:t>probability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104</a:t>
            </a:r>
            <a:r>
              <a:rPr sz="1000" spc="-10" dirty="0">
                <a:latin typeface="Arial MT"/>
                <a:cs typeface="Arial MT"/>
              </a:rPr>
              <a:t> s,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while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SSM </a:t>
            </a:r>
            <a:r>
              <a:rPr sz="1000" spc="-75" dirty="0">
                <a:latin typeface="Arial MT"/>
                <a:cs typeface="Arial MT"/>
              </a:rPr>
              <a:t>reaches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only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60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s.</a:t>
            </a:r>
            <a:endParaRPr sz="1000">
              <a:latin typeface="Arial MT"/>
              <a:cs typeface="Arial MT"/>
            </a:endParaRPr>
          </a:p>
          <a:p>
            <a:pPr marL="265430" marR="76835">
              <a:lnSpc>
                <a:spcPct val="100000"/>
              </a:lnSpc>
              <a:spcBef>
                <a:spcPts val="284"/>
              </a:spcBef>
            </a:pPr>
            <a:r>
              <a:rPr sz="1000" dirty="0">
                <a:latin typeface="Arial MT"/>
                <a:cs typeface="Arial MT"/>
              </a:rPr>
              <a:t>This </a:t>
            </a:r>
            <a:r>
              <a:rPr sz="1000" spc="-65" dirty="0">
                <a:latin typeface="Arial MT"/>
                <a:cs typeface="Arial MT"/>
              </a:rPr>
              <a:t>44-</a:t>
            </a:r>
            <a:r>
              <a:rPr sz="1000" spc="-60" dirty="0">
                <a:latin typeface="Arial MT"/>
                <a:cs typeface="Arial MT"/>
              </a:rPr>
              <a:t>second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improvement </a:t>
            </a:r>
            <a:r>
              <a:rPr sz="1000" spc="-70" dirty="0">
                <a:latin typeface="Arial MT"/>
                <a:cs typeface="Arial MT"/>
              </a:rPr>
              <a:t>means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randomized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DSM </a:t>
            </a:r>
            <a:r>
              <a:rPr sz="1000" spc="-75" dirty="0">
                <a:latin typeface="Arial MT"/>
                <a:cs typeface="Arial MT"/>
              </a:rPr>
              <a:t>users</a:t>
            </a:r>
            <a:r>
              <a:rPr sz="1000" spc="-25" dirty="0">
                <a:latin typeface="Arial MT"/>
                <a:cs typeface="Arial MT"/>
              </a:rPr>
              <a:t> stay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their</a:t>
            </a:r>
            <a:r>
              <a:rPr sz="1000" spc="-20" dirty="0">
                <a:latin typeface="Arial MT"/>
                <a:cs typeface="Arial MT"/>
              </a:rPr>
              <a:t> original </a:t>
            </a:r>
            <a:r>
              <a:rPr sz="1000" spc="-10" dirty="0">
                <a:latin typeface="Arial MT"/>
                <a:cs typeface="Arial MT"/>
              </a:rPr>
              <a:t>drone </a:t>
            </a:r>
            <a:r>
              <a:rPr sz="1000" spc="-20" dirty="0">
                <a:latin typeface="Arial MT"/>
                <a:cs typeface="Arial MT"/>
              </a:rPr>
              <a:t>significantly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longer.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  <a:spcBef>
                <a:spcPts val="280"/>
              </a:spcBef>
            </a:pPr>
            <a:r>
              <a:rPr sz="1000" b="1" spc="-50" dirty="0">
                <a:latin typeface="Arial"/>
                <a:cs typeface="Arial"/>
              </a:rPr>
              <a:t>Resource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Savings: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peak </a:t>
            </a:r>
            <a:r>
              <a:rPr sz="1000" spc="-30" dirty="0">
                <a:latin typeface="Arial MT"/>
                <a:cs typeface="Arial MT"/>
              </a:rPr>
              <a:t>communication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cost </a:t>
            </a:r>
            <a:r>
              <a:rPr sz="1000" spc="-40" dirty="0">
                <a:latin typeface="Arial MT"/>
                <a:cs typeface="Arial MT"/>
              </a:rPr>
              <a:t>saving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is </a:t>
            </a:r>
            <a:r>
              <a:rPr sz="1000" spc="-30" dirty="0">
                <a:latin typeface="Arial MT"/>
                <a:cs typeface="Arial MT"/>
              </a:rPr>
              <a:t>10.8%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i="1" spc="80" dirty="0">
                <a:latin typeface="Arial"/>
                <a:cs typeface="Arial"/>
              </a:rPr>
              <a:t>t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≈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dirty="0">
                <a:latin typeface="Arial MT"/>
                <a:cs typeface="Arial MT"/>
              </a:rPr>
              <a:t>88 </a:t>
            </a:r>
            <a:r>
              <a:rPr sz="1000" spc="-10" dirty="0">
                <a:latin typeface="Arial MT"/>
                <a:cs typeface="Arial MT"/>
              </a:rPr>
              <a:t>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 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DSM </a:t>
            </a:r>
            <a:r>
              <a:rPr sz="1000" spc="-10" dirty="0">
                <a:latin typeface="Arial MT"/>
                <a:cs typeface="Arial MT"/>
              </a:rPr>
              <a:t>approach.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11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79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9465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7268" y="3275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CF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60445" y="3267007"/>
            <a:ext cx="203200" cy="55880"/>
            <a:chOff x="3260445" y="3267007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6953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5CF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65742"/>
            <a:ext cx="203200" cy="58419"/>
            <a:chOff x="3531425" y="3265742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20326" y="32822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1425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5CF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7626" y="32695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E5CF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65742"/>
            <a:ext cx="203200" cy="58419"/>
            <a:chOff x="3802393" y="3265742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6953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2393" y="3275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E5CF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8593" y="330763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E5CF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49573" y="32949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12700" y="0"/>
                </a:moveTo>
                <a:lnTo>
                  <a:pt x="50800" y="0"/>
                </a:lnTo>
              </a:path>
              <a:path w="50800" h="25400">
                <a:moveTo>
                  <a:pt x="0" y="12700"/>
                </a:moveTo>
                <a:lnTo>
                  <a:pt x="381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CCA0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326582" y="3267007"/>
            <a:ext cx="238760" cy="57150"/>
            <a:chOff x="4326582" y="3267007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30001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3969" y="32735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29112" y="326953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CCA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0" y="0"/>
            <a:ext cx="4608195" cy="481330"/>
          </a:xfrm>
          <a:custGeom>
            <a:avLst/>
            <a:gdLst/>
            <a:ahLst/>
            <a:cxnLst/>
            <a:rect l="l" t="t" r="r" b="b"/>
            <a:pathLst>
              <a:path w="4608195" h="481330">
                <a:moveTo>
                  <a:pt x="4608004" y="0"/>
                </a:moveTo>
                <a:lnTo>
                  <a:pt x="0" y="0"/>
                </a:lnTo>
                <a:lnTo>
                  <a:pt x="0" y="481075"/>
                </a:lnTo>
                <a:lnTo>
                  <a:pt x="4608004" y="481075"/>
                </a:lnTo>
                <a:lnTo>
                  <a:pt x="4608004" y="0"/>
                </a:lnTo>
                <a:close/>
              </a:path>
            </a:pathLst>
          </a:custGeom>
          <a:solidFill>
            <a:srgbClr val="7F1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5300" y="68409"/>
            <a:ext cx="6692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A0A0A0"/>
                </a:solidFill>
                <a:latin typeface="Arial"/>
                <a:cs typeface="Arial"/>
              </a:rPr>
              <a:t>Key</a:t>
            </a:r>
            <a:r>
              <a:rPr sz="900" b="1" spc="5" dirty="0">
                <a:solidFill>
                  <a:srgbClr val="A0A0A0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A0A0A0"/>
                </a:solidFill>
                <a:latin typeface="Arial"/>
                <a:cs typeface="Arial"/>
              </a:rPr>
              <a:t>Insights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Conclusions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40" dirty="0"/>
              <a:t>Remaining</a:t>
            </a:r>
            <a:r>
              <a:rPr dirty="0"/>
              <a:t> </a:t>
            </a:r>
            <a:r>
              <a:rPr spc="-55" dirty="0"/>
              <a:t>Challenges</a:t>
            </a: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4729" y="92911"/>
            <a:ext cx="876720" cy="2879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28" y="1183373"/>
            <a:ext cx="59601" cy="5960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28" y="1828647"/>
            <a:ext cx="59601" cy="5960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28" y="2473934"/>
            <a:ext cx="59601" cy="5960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6253" y="878529"/>
            <a:ext cx="2234565" cy="21513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Main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90830" marR="164465">
              <a:lnSpc>
                <a:spcPct val="100000"/>
              </a:lnSpc>
              <a:spcBef>
                <a:spcPts val="295"/>
              </a:spcBef>
            </a:pPr>
            <a:r>
              <a:rPr sz="1000" b="1" spc="-10" dirty="0">
                <a:latin typeface="Arial"/>
                <a:cs typeface="Arial"/>
              </a:rPr>
              <a:t>Theory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55" dirty="0">
                <a:latin typeface="Arial"/>
                <a:cs typeface="Arial"/>
              </a:rPr>
              <a:t>Robustness:</a:t>
            </a:r>
            <a:r>
              <a:rPr sz="1000" b="1" spc="75" dirty="0">
                <a:latin typeface="Arial"/>
                <a:cs typeface="Arial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30" dirty="0">
                <a:latin typeface="Arial MT"/>
                <a:cs typeface="Arial MT"/>
              </a:rPr>
              <a:t>mathematical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models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highly </a:t>
            </a:r>
            <a:r>
              <a:rPr sz="1000" spc="-35" dirty="0">
                <a:latin typeface="Arial MT"/>
                <a:cs typeface="Arial MT"/>
              </a:rPr>
              <a:t>accurate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even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under</a:t>
            </a:r>
            <a:r>
              <a:rPr sz="1000" spc="-10" dirty="0">
                <a:latin typeface="Arial MT"/>
                <a:cs typeface="Arial MT"/>
              </a:rPr>
              <a:t> randomized </a:t>
            </a:r>
            <a:r>
              <a:rPr sz="1000" spc="-50" dirty="0">
                <a:latin typeface="Arial MT"/>
                <a:cs typeface="Arial MT"/>
              </a:rPr>
              <a:t>parameters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(MSE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6</a:t>
            </a:r>
            <a:r>
              <a:rPr sz="1000" i="1" spc="-35" dirty="0">
                <a:latin typeface="Calibri"/>
                <a:cs typeface="Calibri"/>
              </a:rPr>
              <a:t>.</a:t>
            </a:r>
            <a:r>
              <a:rPr sz="1000" spc="-35" dirty="0">
                <a:latin typeface="Arial MT"/>
                <a:cs typeface="Arial MT"/>
              </a:rPr>
              <a:t>2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×</a:t>
            </a:r>
            <a:r>
              <a:rPr sz="1000" i="1" spc="-130" dirty="0">
                <a:latin typeface="Verdana"/>
                <a:cs typeface="Verdana"/>
              </a:rPr>
              <a:t> </a:t>
            </a:r>
            <a:r>
              <a:rPr sz="1000" spc="-10" dirty="0">
                <a:latin typeface="Arial MT"/>
                <a:cs typeface="Arial MT"/>
              </a:rPr>
              <a:t>10</a:t>
            </a:r>
            <a:r>
              <a:rPr sz="1050" spc="-15" baseline="27777" dirty="0">
                <a:latin typeface="Lucida Sans Unicode"/>
                <a:cs typeface="Lucida Sans Unicode"/>
              </a:rPr>
              <a:t>−</a:t>
            </a:r>
            <a:r>
              <a:rPr sz="1050" spc="-15" baseline="27777" dirty="0">
                <a:latin typeface="Arial MT"/>
                <a:cs typeface="Arial MT"/>
              </a:rPr>
              <a:t>6</a:t>
            </a:r>
            <a:r>
              <a:rPr sz="1000" spc="-10" dirty="0">
                <a:latin typeface="Arial MT"/>
                <a:cs typeface="Arial MT"/>
              </a:rPr>
              <a:t>).</a:t>
            </a:r>
            <a:endParaRPr sz="1000">
              <a:latin typeface="Arial MT"/>
              <a:cs typeface="Arial MT"/>
            </a:endParaRPr>
          </a:p>
          <a:p>
            <a:pPr marL="290830" marR="30480">
              <a:lnSpc>
                <a:spcPct val="100000"/>
              </a:lnSpc>
              <a:spcBef>
                <a:spcPts val="280"/>
              </a:spcBef>
            </a:pPr>
            <a:r>
              <a:rPr sz="1000" b="1" spc="-20" dirty="0">
                <a:latin typeface="Arial"/>
                <a:cs typeface="Arial"/>
              </a:rPr>
              <a:t>Density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Impact: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spc="-25" dirty="0">
                <a:latin typeface="Arial MT"/>
                <a:cs typeface="Arial MT"/>
              </a:rPr>
              <a:t>Higher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drone </a:t>
            </a:r>
            <a:r>
              <a:rPr sz="1000" spc="-45" dirty="0">
                <a:latin typeface="Arial MT"/>
                <a:cs typeface="Arial MT"/>
              </a:rPr>
              <a:t>densities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speed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up </a:t>
            </a:r>
            <a:r>
              <a:rPr sz="1000" spc="-50" dirty="0">
                <a:latin typeface="Arial MT"/>
                <a:cs typeface="Arial MT"/>
              </a:rPr>
              <a:t>handovers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due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to </a:t>
            </a:r>
            <a:r>
              <a:rPr sz="1000" spc="-65" dirty="0">
                <a:latin typeface="Arial MT"/>
                <a:cs typeface="Arial MT"/>
              </a:rPr>
              <a:t>increased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competition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65" dirty="0">
                <a:latin typeface="Arial MT"/>
                <a:cs typeface="Arial MT"/>
              </a:rPr>
              <a:t>nearest-</a:t>
            </a:r>
            <a:r>
              <a:rPr sz="1000" spc="-35" dirty="0">
                <a:latin typeface="Arial MT"/>
                <a:cs typeface="Arial MT"/>
              </a:rPr>
              <a:t>neighbor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position.</a:t>
            </a:r>
            <a:endParaRPr sz="1000">
              <a:latin typeface="Arial MT"/>
              <a:cs typeface="Arial MT"/>
            </a:endParaRPr>
          </a:p>
          <a:p>
            <a:pPr marL="290830" marR="107950">
              <a:lnSpc>
                <a:spcPct val="100000"/>
              </a:lnSpc>
              <a:spcBef>
                <a:spcPts val="280"/>
              </a:spcBef>
            </a:pPr>
            <a:r>
              <a:rPr sz="1000" b="1" dirty="0">
                <a:latin typeface="Arial"/>
                <a:cs typeface="Arial"/>
              </a:rPr>
              <a:t>DSM</a:t>
            </a:r>
            <a:r>
              <a:rPr sz="1000" b="1" spc="15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Superiority:</a:t>
            </a:r>
            <a:r>
              <a:rPr sz="1000" b="1" spc="245" dirty="0">
                <a:latin typeface="Arial"/>
                <a:cs typeface="Arial"/>
              </a:rPr>
              <a:t> </a:t>
            </a:r>
            <a:r>
              <a:rPr sz="1000" spc="-55" dirty="0">
                <a:latin typeface="Arial MT"/>
                <a:cs typeface="Arial MT"/>
              </a:rPr>
              <a:t>Variable-</a:t>
            </a:r>
            <a:r>
              <a:rPr sz="1000" spc="-60" dirty="0">
                <a:latin typeface="Arial MT"/>
                <a:cs typeface="Arial MT"/>
              </a:rPr>
              <a:t>speed </a:t>
            </a:r>
            <a:r>
              <a:rPr sz="1000" spc="-50" dirty="0">
                <a:latin typeface="Arial MT"/>
                <a:cs typeface="Arial MT"/>
              </a:rPr>
              <a:t>drones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clearly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provide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better </a:t>
            </a:r>
            <a:r>
              <a:rPr sz="1000" spc="-35" dirty="0">
                <a:latin typeface="Arial MT"/>
                <a:cs typeface="Arial MT"/>
              </a:rPr>
              <a:t>connection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stability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users </a:t>
            </a:r>
            <a:r>
              <a:rPr sz="1000" spc="-45" dirty="0">
                <a:latin typeface="Arial MT"/>
                <a:cs typeface="Arial MT"/>
              </a:rPr>
              <a:t>needing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longer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sessions.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5246" y="865571"/>
            <a:ext cx="1993640" cy="94011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758744" y="2020801"/>
            <a:ext cx="13525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7F1213"/>
                </a:solidFill>
                <a:latin typeface="Arial MT"/>
                <a:cs typeface="Arial MT"/>
              </a:rPr>
              <a:t>Figure:</a:t>
            </a:r>
            <a:r>
              <a:rPr sz="700" spc="5" dirty="0">
                <a:solidFill>
                  <a:srgbClr val="7F1213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Spatial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Density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over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Time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76360" y="2591346"/>
            <a:ext cx="59601" cy="5960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333472" y="2286501"/>
            <a:ext cx="2135505" cy="10128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35" dirty="0">
                <a:latin typeface="Arial"/>
                <a:cs typeface="Arial"/>
              </a:rPr>
              <a:t>Remaining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Challenges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sz="1000" spc="-50" dirty="0">
                <a:latin typeface="Arial MT"/>
                <a:cs typeface="Arial MT"/>
              </a:rPr>
              <a:t>Drones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drifting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outside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finite</a:t>
            </a:r>
            <a:r>
              <a:rPr sz="1000" dirty="0">
                <a:latin typeface="Arial MT"/>
                <a:cs typeface="Arial MT"/>
              </a:rPr>
              <a:t> 30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km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simulation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boundary</a:t>
            </a:r>
            <a:r>
              <a:rPr sz="1000" spc="-10" dirty="0">
                <a:latin typeface="Arial MT"/>
                <a:cs typeface="Arial MT"/>
              </a:rPr>
              <a:t> slightly </a:t>
            </a:r>
            <a:r>
              <a:rPr sz="1000" spc="-50" dirty="0">
                <a:latin typeface="Arial MT"/>
                <a:cs typeface="Arial MT"/>
              </a:rPr>
              <a:t>reduce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effective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density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late times,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causing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minor </a:t>
            </a:r>
            <a:r>
              <a:rPr sz="1000" spc="-10" dirty="0">
                <a:latin typeface="Arial MT"/>
                <a:cs typeface="Arial MT"/>
              </a:rPr>
              <a:t>theory/simulation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mismatche</a:t>
            </a:r>
            <a:r>
              <a:rPr sz="1000" u="heavy" spc="-10" dirty="0">
                <a:uFill>
                  <a:solidFill>
                    <a:srgbClr val="CCA0A1"/>
                  </a:solidFill>
                </a:uFill>
                <a:latin typeface="Arial MT"/>
                <a:cs typeface="Arial MT"/>
              </a:rPr>
              <a:t>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34" name="object 34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F09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5F0D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7F1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499928" y="3379739"/>
            <a:ext cx="64769" cy="6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spc="-4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Bothra</a:t>
            </a:r>
            <a:r>
              <a:rPr spc="50" dirty="0"/>
              <a:t> </a:t>
            </a:r>
            <a:r>
              <a:rPr dirty="0"/>
              <a:t>R.,</a:t>
            </a:r>
            <a:r>
              <a:rPr spc="50" dirty="0"/>
              <a:t> </a:t>
            </a:r>
            <a:r>
              <a:rPr dirty="0"/>
              <a:t>Rajguru</a:t>
            </a:r>
            <a:r>
              <a:rPr spc="50" dirty="0"/>
              <a:t> </a:t>
            </a:r>
            <a:r>
              <a:rPr dirty="0"/>
              <a:t>B.,</a:t>
            </a:r>
            <a:r>
              <a:rPr spc="50" dirty="0"/>
              <a:t> </a:t>
            </a:r>
            <a:r>
              <a:rPr dirty="0"/>
              <a:t>Lilani</a:t>
            </a:r>
            <a:r>
              <a:rPr spc="50" dirty="0"/>
              <a:t> </a:t>
            </a:r>
            <a:r>
              <a:rPr dirty="0"/>
              <a:t>V.,</a:t>
            </a:r>
            <a:r>
              <a:rPr spc="50" dirty="0"/>
              <a:t> </a:t>
            </a:r>
            <a:r>
              <a:rPr dirty="0"/>
              <a:t>Rathod</a:t>
            </a:r>
            <a:r>
              <a:rPr spc="50" dirty="0"/>
              <a:t> </a:t>
            </a:r>
            <a:r>
              <a:rPr dirty="0"/>
              <a:t>F.,</a:t>
            </a:r>
            <a:r>
              <a:rPr spc="50" dirty="0"/>
              <a:t> </a:t>
            </a:r>
            <a:r>
              <a:rPr spc="-10" dirty="0"/>
              <a:t>Wairaga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158530" y="3367039"/>
            <a:ext cx="29083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Module</a:t>
            </a:r>
            <a:r>
              <a:rPr sz="500" spc="45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March</a:t>
            </a:r>
            <a:r>
              <a:rPr spc="30" dirty="0"/>
              <a:t> </a:t>
            </a:r>
            <a:r>
              <a:rPr dirty="0"/>
              <a:t>29,</a:t>
            </a:r>
            <a:r>
              <a:rPr spc="35" dirty="0"/>
              <a:t> </a:t>
            </a:r>
            <a:r>
              <a:rPr spc="-20" dirty="0"/>
              <a:t>2026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spc="-20" dirty="0"/>
              <a:t>12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1540</Words>
  <Application>Microsoft Office PowerPoint</Application>
  <PresentationFormat>Custom</PresentationFormat>
  <Paragraphs>197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MT</vt:lpstr>
      <vt:lpstr>Calibri</vt:lpstr>
      <vt:lpstr>Lucida Sans Unicode</vt:lpstr>
      <vt:lpstr>Tahoma</vt:lpstr>
      <vt:lpstr>Times New Roman</vt:lpstr>
      <vt:lpstr>Verdana</vt:lpstr>
      <vt:lpstr>Office Theme</vt:lpstr>
      <vt:lpstr>Handover Probability in Drone Cellular Networks</vt:lpstr>
      <vt:lpstr>Handover Probability in Drone Cellular Networks</vt:lpstr>
      <vt:lpstr>Milestone 3 Recap</vt:lpstr>
      <vt:lpstr>Simulation Architecture</vt:lpstr>
      <vt:lpstr>Why Determinism Falls Short</vt:lpstr>
      <vt:lpstr>Distributional Assumptions</vt:lpstr>
      <vt:lpstr>Introducing Parameter Variability</vt:lpstr>
      <vt:lpstr>The Anchor Drone Concept</vt:lpstr>
      <vt:lpstr>Simulation Pipeline Workflow</vt:lpstr>
      <vt:lpstr>Domain-Specific Indicators</vt:lpstr>
      <vt:lpstr>Handover Probability: SSM vs DSM</vt:lpstr>
      <vt:lpstr>Conclusions and Remaining 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Handover Probability in Drone Cellular Networks</dc:title>
  <dc:creator>Team Name: s1_g14_net  6pt Rishika Bothra (AU2544006)  Bhavyam Rajguru (AU2440249)  Vansh Lilani (AU2320146)  Fagun Rathod (AU2440111)  Aniruddha Wairagade (AU2440101)</dc:creator>
  <cp:lastModifiedBy>Aniruddha Wairagade</cp:lastModifiedBy>
  <cp:revision>1</cp:revision>
  <dcterms:created xsi:type="dcterms:W3CDTF">2026-03-29T15:29:09Z</dcterms:created>
  <dcterms:modified xsi:type="dcterms:W3CDTF">2026-03-29T15:31:13Z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2026-03-29T00:00:00Z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