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entury Gothic Paneuropean Bold" charset="1" panose="020B0702020202020204"/>
      <p:regular r:id="rId20"/>
    </p:embeddedFont>
    <p:embeddedFont>
      <p:font typeface="Times New Roman MT Bold" charset="1" panose="02030802070405020303"/>
      <p:regular r:id="rId21"/>
    </p:embeddedFont>
    <p:embeddedFont>
      <p:font typeface="Times New Roman MT" charset="1" panose="02030502070405020303"/>
      <p:regular r:id="rId22"/>
    </p:embeddedFont>
    <p:embeddedFont>
      <p:font typeface="Canva Sans Bold" charset="1" panose="020B0803030501040103"/>
      <p:regular r:id="rId23"/>
    </p:embeddedFont>
    <p:embeddedFont>
      <p:font typeface="Times New Roman MT Italics" charset="1" panose="02030502070405090303"/>
      <p:regular r:id="rId24"/>
    </p:embeddedFont>
    <p:embeddedFont>
      <p:font typeface="Century Gothic Paneuropean" charset="1" panose="020B0502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jpe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1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03307" y="3716115"/>
            <a:ext cx="14172944" cy="8229600"/>
          </a:xfrm>
          <a:custGeom>
            <a:avLst/>
            <a:gdLst/>
            <a:ahLst/>
            <a:cxnLst/>
            <a:rect r="r" b="b" t="t" l="l"/>
            <a:pathLst>
              <a:path h="8229600" w="14172944">
                <a:moveTo>
                  <a:pt x="0" y="0"/>
                </a:moveTo>
                <a:lnTo>
                  <a:pt x="14172944" y="0"/>
                </a:lnTo>
                <a:lnTo>
                  <a:pt x="141729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</a:blip>
            <a:stretch>
              <a:fillRect l="0" t="-35952" r="0" b="-3595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74820" y="4285551"/>
            <a:ext cx="9738360" cy="5477828"/>
          </a:xfrm>
          <a:custGeom>
            <a:avLst/>
            <a:gdLst/>
            <a:ahLst/>
            <a:cxnLst/>
            <a:rect r="r" b="b" t="t" l="l"/>
            <a:pathLst>
              <a:path h="5477828" w="9738360">
                <a:moveTo>
                  <a:pt x="0" y="0"/>
                </a:moveTo>
                <a:lnTo>
                  <a:pt x="9738360" y="0"/>
                </a:lnTo>
                <a:lnTo>
                  <a:pt x="9738360" y="5477828"/>
                </a:lnTo>
                <a:lnTo>
                  <a:pt x="0" y="5477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333" t="0" r="-3333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2940"/>
            <a:ext cx="16846298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HANDOVER PROBABLITY IN DRONE CELLULAR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63146" y="230027"/>
            <a:ext cx="61071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CSE 400  :   s1_g14_net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274820" y="3592290"/>
            <a:ext cx="9840612" cy="7030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b="true" sz="3099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</a:t>
            </a:r>
            <a:r>
              <a:rPr lang="en-US" b="true" sz="3099" u="sng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otivation :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Drone Base Stations (DBSs) can provide temporary wireless coverage.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drone networks, base stations move instead of users.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Movement causes frequent topology changes.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Even a static user may experience handovers.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System contains uncertainty due to: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1. random drone locations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2. random speeds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3. random movement directions</a:t>
            </a:r>
          </a:p>
          <a:p>
            <a:pPr algn="l" marL="604515" indent="-302257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Goal: analyze handover behavior using simulation.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66227" y="7652536"/>
            <a:ext cx="4820049" cy="2634464"/>
          </a:xfrm>
          <a:custGeom>
            <a:avLst/>
            <a:gdLst/>
            <a:ahLst/>
            <a:cxnLst/>
            <a:rect r="r" b="b" t="t" l="l"/>
            <a:pathLst>
              <a:path h="2634464" w="4820049">
                <a:moveTo>
                  <a:pt x="0" y="0"/>
                </a:moveTo>
                <a:lnTo>
                  <a:pt x="4820049" y="0"/>
                </a:lnTo>
                <a:lnTo>
                  <a:pt x="4820049" y="2634464"/>
                </a:lnTo>
                <a:lnTo>
                  <a:pt x="0" y="2634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8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-34481" b="-1787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7262" y="7037483"/>
            <a:ext cx="2711661" cy="3131740"/>
          </a:xfrm>
          <a:custGeom>
            <a:avLst/>
            <a:gdLst/>
            <a:ahLst/>
            <a:cxnLst/>
            <a:rect r="r" b="b" t="t" l="l"/>
            <a:pathLst>
              <a:path h="3131740" w="2711661">
                <a:moveTo>
                  <a:pt x="0" y="0"/>
                </a:moveTo>
                <a:lnTo>
                  <a:pt x="2711661" y="0"/>
                </a:lnTo>
                <a:lnTo>
                  <a:pt x="2711661" y="3131739"/>
                </a:lnTo>
                <a:lnTo>
                  <a:pt x="0" y="31317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76398" y="1928254"/>
            <a:ext cx="5465039" cy="7580443"/>
            <a:chOff x="0" y="0"/>
            <a:chExt cx="846678" cy="11744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6677" cy="1174409"/>
            </a:xfrm>
            <a:custGeom>
              <a:avLst/>
              <a:gdLst/>
              <a:ahLst/>
              <a:cxnLst/>
              <a:rect r="r" b="b" t="t" l="l"/>
              <a:pathLst>
                <a:path h="1174409" w="846677">
                  <a:moveTo>
                    <a:pt x="32582" y="0"/>
                  </a:moveTo>
                  <a:lnTo>
                    <a:pt x="814095" y="0"/>
                  </a:lnTo>
                  <a:cubicBezTo>
                    <a:pt x="822737" y="0"/>
                    <a:pt x="831024" y="3433"/>
                    <a:pt x="837134" y="9543"/>
                  </a:cubicBezTo>
                  <a:cubicBezTo>
                    <a:pt x="843245" y="15654"/>
                    <a:pt x="846677" y="23941"/>
                    <a:pt x="846677" y="32582"/>
                  </a:cubicBezTo>
                  <a:lnTo>
                    <a:pt x="846677" y="1141827"/>
                  </a:lnTo>
                  <a:cubicBezTo>
                    <a:pt x="846677" y="1150468"/>
                    <a:pt x="843245" y="1158755"/>
                    <a:pt x="837134" y="1164866"/>
                  </a:cubicBezTo>
                  <a:cubicBezTo>
                    <a:pt x="831024" y="1170976"/>
                    <a:pt x="822737" y="1174409"/>
                    <a:pt x="814095" y="1174409"/>
                  </a:cubicBezTo>
                  <a:lnTo>
                    <a:pt x="32582" y="1174409"/>
                  </a:lnTo>
                  <a:cubicBezTo>
                    <a:pt x="23941" y="1174409"/>
                    <a:pt x="15654" y="1170976"/>
                    <a:pt x="9543" y="1164866"/>
                  </a:cubicBezTo>
                  <a:cubicBezTo>
                    <a:pt x="3433" y="1158755"/>
                    <a:pt x="0" y="1150468"/>
                    <a:pt x="0" y="1141827"/>
                  </a:cubicBezTo>
                  <a:lnTo>
                    <a:pt x="0" y="32582"/>
                  </a:lnTo>
                  <a:cubicBezTo>
                    <a:pt x="0" y="23941"/>
                    <a:pt x="3433" y="15654"/>
                    <a:pt x="9543" y="9543"/>
                  </a:cubicBezTo>
                  <a:cubicBezTo>
                    <a:pt x="15654" y="3433"/>
                    <a:pt x="23941" y="0"/>
                    <a:pt x="32582" y="0"/>
                  </a:cubicBezTo>
                  <a:close/>
                </a:path>
              </a:pathLst>
            </a:custGeom>
            <a:blipFill>
              <a:blip r:embed="rId3"/>
              <a:stretch>
                <a:fillRect l="-75170" t="0" r="-71169" b="3079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570850" y="9081237"/>
            <a:ext cx="3964386" cy="1916120"/>
          </a:xfrm>
          <a:custGeom>
            <a:avLst/>
            <a:gdLst/>
            <a:ahLst/>
            <a:cxnLst/>
            <a:rect r="r" b="b" t="t" l="l"/>
            <a:pathLst>
              <a:path h="1916120" w="3964386">
                <a:moveTo>
                  <a:pt x="0" y="0"/>
                </a:moveTo>
                <a:lnTo>
                  <a:pt x="3964386" y="0"/>
                </a:lnTo>
                <a:lnTo>
                  <a:pt x="3964386" y="1916120"/>
                </a:lnTo>
                <a:lnTo>
                  <a:pt x="0" y="1916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44100" y="7644254"/>
            <a:ext cx="7315200" cy="1864444"/>
          </a:xfrm>
          <a:custGeom>
            <a:avLst/>
            <a:gdLst/>
            <a:ahLst/>
            <a:cxnLst/>
            <a:rect r="r" b="b" t="t" l="l"/>
            <a:pathLst>
              <a:path h="1864444" w="7315200">
                <a:moveTo>
                  <a:pt x="0" y="0"/>
                </a:moveTo>
                <a:lnTo>
                  <a:pt x="7315200" y="0"/>
                </a:lnTo>
                <a:lnTo>
                  <a:pt x="7315200" y="1864443"/>
                </a:lnTo>
                <a:lnTo>
                  <a:pt x="0" y="1864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79336" y="2263140"/>
            <a:ext cx="10415810" cy="752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ective :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Simulate drone cellular network.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 probability of handover before time t .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 P(H(t)) = Probability that serving drone changes before time 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Deterministic baseline strategy :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 always connects to nearest drone.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randomness in association rule.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Same rule used in reference paper.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Why reasonable :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Standard rule in cellular networks.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in theoretical analysis.</a:t>
            </a:r>
          </a:p>
          <a:p>
            <a:pPr algn="just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Allows study of mobility effects only.</a:t>
            </a:r>
          </a:p>
          <a:p>
            <a:pPr algn="just">
              <a:lnSpc>
                <a:spcPts val="391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16299" y="2377440"/>
            <a:ext cx="690869" cy="195956"/>
          </a:xfrm>
          <a:custGeom>
            <a:avLst/>
            <a:gdLst/>
            <a:ahLst/>
            <a:cxnLst/>
            <a:rect r="r" b="b" t="t" l="l"/>
            <a:pathLst>
              <a:path h="195956" w="690869">
                <a:moveTo>
                  <a:pt x="0" y="0"/>
                </a:moveTo>
                <a:lnTo>
                  <a:pt x="690870" y="0"/>
                </a:lnTo>
                <a:lnTo>
                  <a:pt x="690870" y="195955"/>
                </a:lnTo>
                <a:lnTo>
                  <a:pt x="0" y="195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81366" y="474974"/>
            <a:ext cx="16936253" cy="100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sz="58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Project Objective and Deterministic Baseline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6299" y="7448298"/>
            <a:ext cx="690869" cy="195956"/>
          </a:xfrm>
          <a:custGeom>
            <a:avLst/>
            <a:gdLst/>
            <a:ahLst/>
            <a:cxnLst/>
            <a:rect r="r" b="b" t="t" l="l"/>
            <a:pathLst>
              <a:path h="195956" w="690869">
                <a:moveTo>
                  <a:pt x="0" y="0"/>
                </a:moveTo>
                <a:lnTo>
                  <a:pt x="690870" y="0"/>
                </a:lnTo>
                <a:lnTo>
                  <a:pt x="690870" y="195956"/>
                </a:lnTo>
                <a:lnTo>
                  <a:pt x="0" y="1959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6299" y="4947544"/>
            <a:ext cx="690869" cy="195956"/>
          </a:xfrm>
          <a:custGeom>
            <a:avLst/>
            <a:gdLst/>
            <a:ahLst/>
            <a:cxnLst/>
            <a:rect r="r" b="b" t="t" l="l"/>
            <a:pathLst>
              <a:path h="195956" w="690869">
                <a:moveTo>
                  <a:pt x="0" y="0"/>
                </a:moveTo>
                <a:lnTo>
                  <a:pt x="690870" y="0"/>
                </a:lnTo>
                <a:lnTo>
                  <a:pt x="690870" y="195956"/>
                </a:lnTo>
                <a:lnTo>
                  <a:pt x="0" y="1959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005983" y="1928254"/>
            <a:ext cx="5465039" cy="7580443"/>
            <a:chOff x="0" y="0"/>
            <a:chExt cx="846678" cy="11744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6677" cy="1174409"/>
            </a:xfrm>
            <a:custGeom>
              <a:avLst/>
              <a:gdLst/>
              <a:ahLst/>
              <a:cxnLst/>
              <a:rect r="r" b="b" t="t" l="l"/>
              <a:pathLst>
                <a:path h="1174409" w="846677">
                  <a:moveTo>
                    <a:pt x="32582" y="0"/>
                  </a:moveTo>
                  <a:lnTo>
                    <a:pt x="814095" y="0"/>
                  </a:lnTo>
                  <a:cubicBezTo>
                    <a:pt x="822737" y="0"/>
                    <a:pt x="831024" y="3433"/>
                    <a:pt x="837134" y="9543"/>
                  </a:cubicBezTo>
                  <a:cubicBezTo>
                    <a:pt x="843245" y="15654"/>
                    <a:pt x="846677" y="23941"/>
                    <a:pt x="846677" y="32582"/>
                  </a:cubicBezTo>
                  <a:lnTo>
                    <a:pt x="846677" y="1141827"/>
                  </a:lnTo>
                  <a:cubicBezTo>
                    <a:pt x="846677" y="1150468"/>
                    <a:pt x="843245" y="1158755"/>
                    <a:pt x="837134" y="1164866"/>
                  </a:cubicBezTo>
                  <a:cubicBezTo>
                    <a:pt x="831024" y="1170976"/>
                    <a:pt x="822737" y="1174409"/>
                    <a:pt x="814095" y="1174409"/>
                  </a:cubicBezTo>
                  <a:lnTo>
                    <a:pt x="32582" y="1174409"/>
                  </a:lnTo>
                  <a:cubicBezTo>
                    <a:pt x="23941" y="1174409"/>
                    <a:pt x="15654" y="1170976"/>
                    <a:pt x="9543" y="1164866"/>
                  </a:cubicBezTo>
                  <a:cubicBezTo>
                    <a:pt x="3433" y="1158755"/>
                    <a:pt x="0" y="1150468"/>
                    <a:pt x="0" y="1141827"/>
                  </a:cubicBezTo>
                  <a:lnTo>
                    <a:pt x="0" y="32582"/>
                  </a:lnTo>
                  <a:cubicBezTo>
                    <a:pt x="0" y="23941"/>
                    <a:pt x="3433" y="15654"/>
                    <a:pt x="9543" y="9543"/>
                  </a:cubicBezTo>
                  <a:cubicBezTo>
                    <a:pt x="15654" y="3433"/>
                    <a:pt x="23941" y="0"/>
                    <a:pt x="32582" y="0"/>
                  </a:cubicBezTo>
                  <a:close/>
                </a:path>
              </a:pathLst>
            </a:custGeom>
            <a:blipFill>
              <a:blip r:embed="rId9"/>
              <a:stretch>
                <a:fillRect l="-76963" t="0" r="-7696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30400" y="7900042"/>
            <a:ext cx="7315200" cy="3216072"/>
          </a:xfrm>
          <a:custGeom>
            <a:avLst/>
            <a:gdLst/>
            <a:ahLst/>
            <a:cxnLst/>
            <a:rect r="r" b="b" t="t" l="l"/>
            <a:pathLst>
              <a:path h="3216072" w="7315200">
                <a:moveTo>
                  <a:pt x="0" y="0"/>
                </a:moveTo>
                <a:lnTo>
                  <a:pt x="7315200" y="0"/>
                </a:lnTo>
                <a:lnTo>
                  <a:pt x="7315200" y="3216071"/>
                </a:lnTo>
                <a:lnTo>
                  <a:pt x="0" y="32160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850952" y="-1297830"/>
            <a:ext cx="2879652" cy="3051287"/>
          </a:xfrm>
          <a:custGeom>
            <a:avLst/>
            <a:gdLst/>
            <a:ahLst/>
            <a:cxnLst/>
            <a:rect r="r" b="b" t="t" l="l"/>
            <a:pathLst>
              <a:path h="3051287" w="2879652">
                <a:moveTo>
                  <a:pt x="0" y="0"/>
                </a:moveTo>
                <a:lnTo>
                  <a:pt x="2879652" y="0"/>
                </a:lnTo>
                <a:lnTo>
                  <a:pt x="2879652" y="3051287"/>
                </a:lnTo>
                <a:lnTo>
                  <a:pt x="0" y="3051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83784" y="284195"/>
            <a:ext cx="10720433" cy="102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9"/>
              </a:lnSpc>
            </a:pPr>
            <a:r>
              <a:rPr lang="en-US" sz="65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System Pipeline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9204" y="2011530"/>
            <a:ext cx="10441407" cy="7935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Simulati</a:t>
            </a:r>
            <a:r>
              <a:rPr lang="en-US" sz="3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 pipeline: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Generate drone locations using Poisson Point Process.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Select nearest drone as serving drone.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Assign random speed and direction.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 drones for time t.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Recalculate distances from user.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handover event.</a:t>
            </a:r>
          </a:p>
          <a:p>
            <a:pPr algn="just" marL="647694" indent="-323847" lvl="1">
              <a:lnSpc>
                <a:spcPts val="4199"/>
              </a:lnSpc>
              <a:buAutoNum type="arabicPeriod" startAt="1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Monte-Carlo simulation – compute density and handover probability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just">
              <a:lnSpc>
                <a:spcPts val="4199"/>
              </a:lnSpc>
            </a:pPr>
          </a:p>
          <a:p>
            <a:pPr algn="just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Where uncertainty enters: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(PPP) drone deployment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speed distribution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movement direction</a:t>
            </a:r>
          </a:p>
          <a:p>
            <a:pPr algn="just">
              <a:lnSpc>
                <a:spcPts val="37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68971" y="1614100"/>
            <a:ext cx="3338440" cy="8333026"/>
            <a:chOff x="0" y="0"/>
            <a:chExt cx="4451254" cy="1111070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451254" cy="1039216"/>
              <a:chOff x="0" y="0"/>
              <a:chExt cx="1296526" cy="30269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96526" cy="302695"/>
              </a:xfrm>
              <a:custGeom>
                <a:avLst/>
                <a:gdLst/>
                <a:ahLst/>
                <a:cxnLst/>
                <a:rect r="r" b="b" t="t" l="l"/>
                <a:pathLst>
                  <a:path h="302695" w="1296526">
                    <a:moveTo>
                      <a:pt x="1093326" y="0"/>
                    </a:moveTo>
                    <a:cubicBezTo>
                      <a:pt x="1205550" y="0"/>
                      <a:pt x="1296526" y="67761"/>
                      <a:pt x="1296526" y="151347"/>
                    </a:cubicBezTo>
                    <a:cubicBezTo>
                      <a:pt x="1296526" y="234934"/>
                      <a:pt x="1205550" y="302695"/>
                      <a:pt x="1093326" y="302695"/>
                    </a:cubicBezTo>
                    <a:lnTo>
                      <a:pt x="203200" y="302695"/>
                    </a:lnTo>
                    <a:cubicBezTo>
                      <a:pt x="90976" y="302695"/>
                      <a:pt x="0" y="234934"/>
                      <a:pt x="0" y="151347"/>
                    </a:cubicBezTo>
                    <a:cubicBezTo>
                      <a:pt x="0" y="67761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296526" cy="340795"/>
              </a:xfrm>
              <a:prstGeom prst="rect">
                <a:avLst/>
              </a:prstGeom>
            </p:spPr>
            <p:txBody>
              <a:bodyPr anchor="ctr" rtlCol="false" tIns="46689" lIns="46689" bIns="46689" rIns="4668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PPP Deployment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2936" y="1655723"/>
              <a:ext cx="4438318" cy="1035913"/>
              <a:chOff x="0" y="0"/>
              <a:chExt cx="1296526" cy="30261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46689" lIns="46689" bIns="46689" rIns="4668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Select Serving Drone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936" y="3204397"/>
              <a:ext cx="4438318" cy="1195060"/>
              <a:chOff x="0" y="0"/>
              <a:chExt cx="1238718" cy="33353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238718" cy="333537"/>
              </a:xfrm>
              <a:custGeom>
                <a:avLst/>
                <a:gdLst/>
                <a:ahLst/>
                <a:cxnLst/>
                <a:rect r="r" b="b" t="t" l="l"/>
                <a:pathLst>
                  <a:path h="333537" w="1238718">
                    <a:moveTo>
                      <a:pt x="1035518" y="0"/>
                    </a:moveTo>
                    <a:cubicBezTo>
                      <a:pt x="1147742" y="0"/>
                      <a:pt x="1238718" y="74665"/>
                      <a:pt x="1238718" y="166768"/>
                    </a:cubicBezTo>
                    <a:cubicBezTo>
                      <a:pt x="1238718" y="258872"/>
                      <a:pt x="1147742" y="333537"/>
                      <a:pt x="1035518" y="333537"/>
                    </a:cubicBezTo>
                    <a:lnTo>
                      <a:pt x="203200" y="333537"/>
                    </a:lnTo>
                    <a:cubicBezTo>
                      <a:pt x="90976" y="333537"/>
                      <a:pt x="0" y="258872"/>
                      <a:pt x="0" y="166768"/>
                    </a:cubicBezTo>
                    <a:cubicBezTo>
                      <a:pt x="0" y="74665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238718" cy="371637"/>
              </a:xfrm>
              <a:prstGeom prst="rect">
                <a:avLst/>
              </a:prstGeom>
            </p:spPr>
            <p:txBody>
              <a:bodyPr anchor="ctr" rtlCol="false" tIns="46689" lIns="46689" bIns="46689" rIns="4668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Assign Speed &amp; Direction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4915056"/>
              <a:ext cx="4451254" cy="1038933"/>
              <a:chOff x="0" y="0"/>
              <a:chExt cx="1296526" cy="30261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96526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96526">
                    <a:moveTo>
                      <a:pt x="1093326" y="0"/>
                    </a:moveTo>
                    <a:cubicBezTo>
                      <a:pt x="1205550" y="0"/>
                      <a:pt x="1296526" y="67742"/>
                      <a:pt x="1296526" y="151306"/>
                    </a:cubicBezTo>
                    <a:cubicBezTo>
                      <a:pt x="1296526" y="234870"/>
                      <a:pt x="1205550" y="302612"/>
                      <a:pt x="1093326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296526" cy="340712"/>
              </a:xfrm>
              <a:prstGeom prst="rect">
                <a:avLst/>
              </a:prstGeom>
            </p:spPr>
            <p:txBody>
              <a:bodyPr anchor="ctr" rtlCol="false" tIns="46689" lIns="46689" bIns="46689" rIns="4668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Move Drones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2936" y="6570314"/>
              <a:ext cx="4438318" cy="1084257"/>
              <a:chOff x="0" y="0"/>
              <a:chExt cx="1238718" cy="30261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238718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38718">
                    <a:moveTo>
                      <a:pt x="1035518" y="0"/>
                    </a:moveTo>
                    <a:cubicBezTo>
                      <a:pt x="1147742" y="0"/>
                      <a:pt x="1238718" y="67742"/>
                      <a:pt x="1238718" y="151306"/>
                    </a:cubicBezTo>
                    <a:cubicBezTo>
                      <a:pt x="1238718" y="234870"/>
                      <a:pt x="1147742" y="302612"/>
                      <a:pt x="1035518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238718" cy="340712"/>
              </a:xfrm>
              <a:prstGeom prst="rect">
                <a:avLst/>
              </a:prstGeom>
            </p:spPr>
            <p:txBody>
              <a:bodyPr anchor="ctr" rtlCol="false" tIns="46689" lIns="46689" bIns="46689" rIns="4668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Distance Calculation</a:t>
                </a: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5400000">
              <a:off x="2046545" y="1104323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7"/>
                  </a:lnTo>
                  <a:lnTo>
                    <a:pt x="0" y="427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5400000">
              <a:off x="2046545" y="2756743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6"/>
                  </a:lnTo>
                  <a:lnTo>
                    <a:pt x="0" y="427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5400000">
              <a:off x="2046545" y="4412000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7"/>
                  </a:lnTo>
                  <a:lnTo>
                    <a:pt x="0" y="427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5400000">
              <a:off x="2033610" y="6067258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6"/>
                  </a:lnTo>
                  <a:lnTo>
                    <a:pt x="0" y="427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5400000">
              <a:off x="2053013" y="7729740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6"/>
                  </a:lnTo>
                  <a:lnTo>
                    <a:pt x="0" y="427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6468" y="8267238"/>
              <a:ext cx="4444786" cy="1084257"/>
              <a:chOff x="0" y="0"/>
              <a:chExt cx="1240523" cy="302612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240523" cy="302612"/>
              </a:xfrm>
              <a:custGeom>
                <a:avLst/>
                <a:gdLst/>
                <a:ahLst/>
                <a:cxnLst/>
                <a:rect r="r" b="b" t="t" l="l"/>
                <a:pathLst>
                  <a:path h="302612" w="1240523">
                    <a:moveTo>
                      <a:pt x="1037323" y="0"/>
                    </a:moveTo>
                    <a:cubicBezTo>
                      <a:pt x="1149547" y="0"/>
                      <a:pt x="1240523" y="67742"/>
                      <a:pt x="1240523" y="151306"/>
                    </a:cubicBezTo>
                    <a:cubicBezTo>
                      <a:pt x="1240523" y="234870"/>
                      <a:pt x="1149547" y="302612"/>
                      <a:pt x="1037323" y="302612"/>
                    </a:cubicBezTo>
                    <a:lnTo>
                      <a:pt x="203200" y="302612"/>
                    </a:lnTo>
                    <a:cubicBezTo>
                      <a:pt x="90976" y="302612"/>
                      <a:pt x="0" y="234870"/>
                      <a:pt x="0" y="151306"/>
                    </a:cubicBezTo>
                    <a:cubicBezTo>
                      <a:pt x="0" y="6774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240523" cy="340712"/>
              </a:xfrm>
              <a:prstGeom prst="rect">
                <a:avLst/>
              </a:prstGeom>
            </p:spPr>
            <p:txBody>
              <a:bodyPr anchor="ctr" rtlCol="false" tIns="47269" lIns="47269" bIns="47269" rIns="4726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Handover Check</a:t>
                </a: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5400000">
              <a:off x="2033610" y="9426664"/>
              <a:ext cx="578225" cy="427886"/>
            </a:xfrm>
            <a:custGeom>
              <a:avLst/>
              <a:gdLst/>
              <a:ahLst/>
              <a:cxnLst/>
              <a:rect r="r" b="b" t="t" l="l"/>
              <a:pathLst>
                <a:path h="427886" w="578225">
                  <a:moveTo>
                    <a:pt x="0" y="0"/>
                  </a:moveTo>
                  <a:lnTo>
                    <a:pt x="578225" y="0"/>
                  </a:lnTo>
                  <a:lnTo>
                    <a:pt x="578225" y="427886"/>
                  </a:lnTo>
                  <a:lnTo>
                    <a:pt x="0" y="427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32" id="32"/>
            <p:cNvGrpSpPr/>
            <p:nvPr/>
          </p:nvGrpSpPr>
          <p:grpSpPr>
            <a:xfrm rot="0">
              <a:off x="0" y="9914481"/>
              <a:ext cx="4451254" cy="1196220"/>
              <a:chOff x="0" y="0"/>
              <a:chExt cx="1296526" cy="34842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296526" cy="348425"/>
              </a:xfrm>
              <a:custGeom>
                <a:avLst/>
                <a:gdLst/>
                <a:ahLst/>
                <a:cxnLst/>
                <a:rect r="r" b="b" t="t" l="l"/>
                <a:pathLst>
                  <a:path h="348425" w="1296526">
                    <a:moveTo>
                      <a:pt x="1093326" y="0"/>
                    </a:moveTo>
                    <a:cubicBezTo>
                      <a:pt x="1205550" y="0"/>
                      <a:pt x="1296526" y="77998"/>
                      <a:pt x="1296526" y="174213"/>
                    </a:cubicBezTo>
                    <a:cubicBezTo>
                      <a:pt x="1296526" y="270428"/>
                      <a:pt x="1205550" y="348425"/>
                      <a:pt x="1093326" y="348425"/>
                    </a:cubicBezTo>
                    <a:lnTo>
                      <a:pt x="203200" y="348425"/>
                    </a:lnTo>
                    <a:cubicBezTo>
                      <a:pt x="90976" y="348425"/>
                      <a:pt x="0" y="270428"/>
                      <a:pt x="0" y="174213"/>
                    </a:cubicBezTo>
                    <a:cubicBezTo>
                      <a:pt x="0" y="7799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A2B3B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296526" cy="386525"/>
              </a:xfrm>
              <a:prstGeom prst="rect">
                <a:avLst/>
              </a:prstGeom>
            </p:spPr>
            <p:txBody>
              <a:bodyPr anchor="ctr" rtlCol="false" tIns="47269" lIns="47269" bIns="47269" rIns="47269"/>
              <a:lstStyle/>
              <a:p>
                <a:pPr algn="ctr">
                  <a:lnSpc>
                    <a:spcPts val="3079"/>
                  </a:lnSpc>
                  <a:spcBef>
                    <a:spcPct val="0"/>
                  </a:spcBef>
                </a:pPr>
                <a:r>
                  <a:rPr lang="en-US" b="true" sz="2199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Monte-Carlo Simulation &amp; Results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41233" y="3416129"/>
            <a:ext cx="4605533" cy="958646"/>
            <a:chOff x="0" y="0"/>
            <a:chExt cx="1212980" cy="2524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2980" cy="252483"/>
            </a:xfrm>
            <a:custGeom>
              <a:avLst/>
              <a:gdLst/>
              <a:ahLst/>
              <a:cxnLst/>
              <a:rect r="r" b="b" t="t" l="l"/>
              <a:pathLst>
                <a:path h="252483" w="1212980">
                  <a:moveTo>
                    <a:pt x="85731" y="0"/>
                  </a:moveTo>
                  <a:lnTo>
                    <a:pt x="1127249" y="0"/>
                  </a:lnTo>
                  <a:cubicBezTo>
                    <a:pt x="1174597" y="0"/>
                    <a:pt x="1212980" y="38383"/>
                    <a:pt x="1212980" y="85731"/>
                  </a:cubicBezTo>
                  <a:lnTo>
                    <a:pt x="1212980" y="166752"/>
                  </a:lnTo>
                  <a:cubicBezTo>
                    <a:pt x="1212980" y="214100"/>
                    <a:pt x="1174597" y="252483"/>
                    <a:pt x="1127249" y="252483"/>
                  </a:cubicBezTo>
                  <a:lnTo>
                    <a:pt x="85731" y="252483"/>
                  </a:lnTo>
                  <a:cubicBezTo>
                    <a:pt x="38383" y="252483"/>
                    <a:pt x="0" y="214100"/>
                    <a:pt x="0" y="166752"/>
                  </a:cubicBezTo>
                  <a:lnTo>
                    <a:pt x="0" y="85731"/>
                  </a:lnTo>
                  <a:cubicBezTo>
                    <a:pt x="0" y="38383"/>
                    <a:pt x="38383" y="0"/>
                    <a:pt x="85731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76200"/>
              <a:ext cx="1212980" cy="328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72339" y="3416129"/>
            <a:ext cx="3693042" cy="958646"/>
            <a:chOff x="0" y="0"/>
            <a:chExt cx="972653" cy="2524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2653" cy="252483"/>
            </a:xfrm>
            <a:custGeom>
              <a:avLst/>
              <a:gdLst/>
              <a:ahLst/>
              <a:cxnLst/>
              <a:rect r="r" b="b" t="t" l="l"/>
              <a:pathLst>
                <a:path h="252483" w="972653">
                  <a:moveTo>
                    <a:pt x="106914" y="0"/>
                  </a:moveTo>
                  <a:lnTo>
                    <a:pt x="865739" y="0"/>
                  </a:lnTo>
                  <a:cubicBezTo>
                    <a:pt x="894094" y="0"/>
                    <a:pt x="921288" y="11264"/>
                    <a:pt x="941339" y="31314"/>
                  </a:cubicBezTo>
                  <a:cubicBezTo>
                    <a:pt x="961389" y="51365"/>
                    <a:pt x="972653" y="78559"/>
                    <a:pt x="972653" y="106914"/>
                  </a:cubicBezTo>
                  <a:lnTo>
                    <a:pt x="972653" y="145569"/>
                  </a:lnTo>
                  <a:cubicBezTo>
                    <a:pt x="972653" y="173924"/>
                    <a:pt x="961389" y="201118"/>
                    <a:pt x="941339" y="221168"/>
                  </a:cubicBezTo>
                  <a:cubicBezTo>
                    <a:pt x="921288" y="241219"/>
                    <a:pt x="894094" y="252483"/>
                    <a:pt x="865739" y="252483"/>
                  </a:cubicBezTo>
                  <a:lnTo>
                    <a:pt x="106914" y="252483"/>
                  </a:lnTo>
                  <a:cubicBezTo>
                    <a:pt x="47867" y="252483"/>
                    <a:pt x="0" y="204616"/>
                    <a:pt x="0" y="145569"/>
                  </a:cubicBezTo>
                  <a:lnTo>
                    <a:pt x="0" y="106914"/>
                  </a:lnTo>
                  <a:cubicBezTo>
                    <a:pt x="0" y="78559"/>
                    <a:pt x="11264" y="51365"/>
                    <a:pt x="31314" y="31314"/>
                  </a:cubicBezTo>
                  <a:cubicBezTo>
                    <a:pt x="51365" y="11264"/>
                    <a:pt x="78559" y="0"/>
                    <a:pt x="106914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972653" cy="328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46165" y="3416129"/>
            <a:ext cx="4240249" cy="958646"/>
            <a:chOff x="0" y="0"/>
            <a:chExt cx="1116773" cy="2524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6773" cy="252483"/>
            </a:xfrm>
            <a:custGeom>
              <a:avLst/>
              <a:gdLst/>
              <a:ahLst/>
              <a:cxnLst/>
              <a:rect r="r" b="b" t="t" l="l"/>
              <a:pathLst>
                <a:path h="252483" w="1116773">
                  <a:moveTo>
                    <a:pt x="93117" y="0"/>
                  </a:moveTo>
                  <a:lnTo>
                    <a:pt x="1023657" y="0"/>
                  </a:lnTo>
                  <a:cubicBezTo>
                    <a:pt x="1048353" y="0"/>
                    <a:pt x="1072037" y="9810"/>
                    <a:pt x="1089500" y="27273"/>
                  </a:cubicBezTo>
                  <a:cubicBezTo>
                    <a:pt x="1106963" y="44736"/>
                    <a:pt x="1116773" y="68421"/>
                    <a:pt x="1116773" y="93117"/>
                  </a:cubicBezTo>
                  <a:lnTo>
                    <a:pt x="1116773" y="159366"/>
                  </a:lnTo>
                  <a:cubicBezTo>
                    <a:pt x="1116773" y="210793"/>
                    <a:pt x="1075084" y="252483"/>
                    <a:pt x="1023657" y="252483"/>
                  </a:cubicBezTo>
                  <a:lnTo>
                    <a:pt x="93117" y="252483"/>
                  </a:lnTo>
                  <a:cubicBezTo>
                    <a:pt x="41690" y="252483"/>
                    <a:pt x="0" y="210793"/>
                    <a:pt x="0" y="159366"/>
                  </a:cubicBezTo>
                  <a:lnTo>
                    <a:pt x="0" y="93117"/>
                  </a:lnTo>
                  <a:cubicBezTo>
                    <a:pt x="0" y="41690"/>
                    <a:pt x="41690" y="0"/>
                    <a:pt x="93117" y="0"/>
                  </a:cubicBezTo>
                  <a:close/>
                </a:path>
              </a:pathLst>
            </a:custGeom>
            <a:solidFill>
              <a:srgbClr val="7A7D8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1116773" cy="328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0" y="7698444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3" y="0"/>
                </a:lnTo>
                <a:lnTo>
                  <a:pt x="3490153" y="4030832"/>
                </a:lnTo>
                <a:lnTo>
                  <a:pt x="0" y="40308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2081" y="2359359"/>
            <a:ext cx="3490153" cy="4030833"/>
          </a:xfrm>
          <a:custGeom>
            <a:avLst/>
            <a:gdLst/>
            <a:ahLst/>
            <a:cxnLst/>
            <a:rect r="r" b="b" t="t" l="l"/>
            <a:pathLst>
              <a:path h="4030833" w="3490153">
                <a:moveTo>
                  <a:pt x="0" y="0"/>
                </a:moveTo>
                <a:lnTo>
                  <a:pt x="3490154" y="0"/>
                </a:lnTo>
                <a:lnTo>
                  <a:pt x="3490154" y="4030833"/>
                </a:lnTo>
                <a:lnTo>
                  <a:pt x="0" y="40308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424579" y="483551"/>
            <a:ext cx="13866665" cy="10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Sources of Uncertainty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71637" y="5190863"/>
            <a:ext cx="4288027" cy="2050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</a:t>
            </a: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imulation method: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Monte-Carlo simulation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</a:t>
            </a: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ple realizations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</a:t>
            </a: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verage over all results</a:t>
            </a: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76989" y="3577317"/>
            <a:ext cx="4605533" cy="5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uncertainty is handled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18734" y="3521754"/>
            <a:ext cx="2461048" cy="630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b="true" sz="32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Purpose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2217" y="3538573"/>
            <a:ext cx="2111686" cy="64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Sources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6704" y="5190863"/>
            <a:ext cx="5362596" cy="163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 realistic mobile network.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 Density and handover Probability</a:t>
            </a: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804048" y="5190863"/>
            <a:ext cx="4468024" cy="288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PPP distribution of drones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number of drones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speed of drones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(Speed follow a probability   distribution rayleigh/uniform)</a:t>
            </a:r>
          </a:p>
          <a:p>
            <a:pPr algn="just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Random movement direction</a:t>
            </a:r>
          </a:p>
          <a:p>
            <a:pPr algn="just">
              <a:lnSpc>
                <a:spcPts val="26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446723" y="2049479"/>
            <a:ext cx="12933059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Uncertainty comes from stochastic modeling.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614940" y="1177990"/>
            <a:ext cx="6200641" cy="4145372"/>
            <a:chOff x="0" y="0"/>
            <a:chExt cx="960642" cy="6422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0642" cy="642227"/>
            </a:xfrm>
            <a:custGeom>
              <a:avLst/>
              <a:gdLst/>
              <a:ahLst/>
              <a:cxnLst/>
              <a:rect r="r" b="b" t="t" l="l"/>
              <a:pathLst>
                <a:path h="642227" w="960642">
                  <a:moveTo>
                    <a:pt x="28717" y="0"/>
                  </a:moveTo>
                  <a:lnTo>
                    <a:pt x="931925" y="0"/>
                  </a:lnTo>
                  <a:cubicBezTo>
                    <a:pt x="947784" y="0"/>
                    <a:pt x="960642" y="12857"/>
                    <a:pt x="960642" y="28717"/>
                  </a:cubicBezTo>
                  <a:lnTo>
                    <a:pt x="960642" y="613510"/>
                  </a:lnTo>
                  <a:cubicBezTo>
                    <a:pt x="960642" y="629370"/>
                    <a:pt x="947784" y="642227"/>
                    <a:pt x="931925" y="642227"/>
                  </a:cubicBezTo>
                  <a:lnTo>
                    <a:pt x="28717" y="642227"/>
                  </a:lnTo>
                  <a:cubicBezTo>
                    <a:pt x="12857" y="642227"/>
                    <a:pt x="0" y="629370"/>
                    <a:pt x="0" y="613510"/>
                  </a:cubicBezTo>
                  <a:lnTo>
                    <a:pt x="0" y="28717"/>
                  </a:lnTo>
                  <a:cubicBezTo>
                    <a:pt x="0" y="12857"/>
                    <a:pt x="12857" y="0"/>
                    <a:pt x="28717" y="0"/>
                  </a:cubicBezTo>
                  <a:close/>
                </a:path>
              </a:pathLst>
            </a:custGeom>
            <a:blipFill>
              <a:blip r:embed="rId3"/>
              <a:stretch>
                <a:fillRect l="-11193" t="0" r="-11193" b="0"/>
              </a:stretch>
            </a:blipFill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35944" y="2973207"/>
          <a:ext cx="10168053" cy="6713634"/>
        </p:xfrm>
        <a:graphic>
          <a:graphicData uri="http://schemas.openxmlformats.org/drawingml/2006/table">
            <a:tbl>
              <a:tblPr/>
              <a:tblGrid>
                <a:gridCol w="1769449"/>
                <a:gridCol w="4903765"/>
                <a:gridCol w="3494839"/>
              </a:tblGrid>
              <a:tr h="977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Variable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Meaning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Times New Roman MT Bold"/>
                          <a:ea typeface="Times New Roman MT Bold"/>
                          <a:cs typeface="Times New Roman MT Bold"/>
                          <a:sym typeface="Times New Roman MT Bold"/>
                        </a:rPr>
                        <a:t>Distribution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7709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number of drones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Poisson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drone position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Uniform in 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drone speed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Rayleigh / Uniform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movement direction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Uniform (0, 2π)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distance to serving drone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8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distance to non-serving drone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Times New Roman MT"/>
                          <a:ea typeface="Times New Roman MT"/>
                          <a:cs typeface="Times New Roman MT"/>
                          <a:sym typeface="Times New Roman MT"/>
                        </a:rPr>
                        <a:t>random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982891" y="5938937"/>
            <a:ext cx="766584" cy="757109"/>
          </a:xfrm>
          <a:custGeom>
            <a:avLst/>
            <a:gdLst/>
            <a:ahLst/>
            <a:cxnLst/>
            <a:rect r="r" b="b" t="t" l="l"/>
            <a:pathLst>
              <a:path h="757109" w="766584">
                <a:moveTo>
                  <a:pt x="0" y="0"/>
                </a:moveTo>
                <a:lnTo>
                  <a:pt x="766584" y="0"/>
                </a:lnTo>
                <a:lnTo>
                  <a:pt x="766584" y="757110"/>
                </a:lnTo>
                <a:lnTo>
                  <a:pt x="0" y="757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095" r="0" b="-30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3798" y="4982277"/>
            <a:ext cx="1611415" cy="682168"/>
          </a:xfrm>
          <a:custGeom>
            <a:avLst/>
            <a:gdLst/>
            <a:ahLst/>
            <a:cxnLst/>
            <a:rect r="r" b="b" t="t" l="l"/>
            <a:pathLst>
              <a:path h="682168" w="1611415">
                <a:moveTo>
                  <a:pt x="0" y="0"/>
                </a:moveTo>
                <a:lnTo>
                  <a:pt x="1611415" y="0"/>
                </a:lnTo>
                <a:lnTo>
                  <a:pt x="1611415" y="682169"/>
                </a:lnTo>
                <a:lnTo>
                  <a:pt x="0" y="682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95" r="0" b="-309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2891" y="6868708"/>
            <a:ext cx="816831" cy="804178"/>
          </a:xfrm>
          <a:custGeom>
            <a:avLst/>
            <a:gdLst/>
            <a:ahLst/>
            <a:cxnLst/>
            <a:rect r="r" b="b" t="t" l="l"/>
            <a:pathLst>
              <a:path h="804178" w="816831">
                <a:moveTo>
                  <a:pt x="0" y="0"/>
                </a:moveTo>
                <a:lnTo>
                  <a:pt x="816831" y="0"/>
                </a:lnTo>
                <a:lnTo>
                  <a:pt x="816831" y="804178"/>
                </a:lnTo>
                <a:lnTo>
                  <a:pt x="0" y="804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3095" r="0" b="-30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3873" y="7825286"/>
            <a:ext cx="944620" cy="765429"/>
          </a:xfrm>
          <a:custGeom>
            <a:avLst/>
            <a:gdLst/>
            <a:ahLst/>
            <a:cxnLst/>
            <a:rect r="r" b="b" t="t" l="l"/>
            <a:pathLst>
              <a:path h="765429" w="944620">
                <a:moveTo>
                  <a:pt x="0" y="0"/>
                </a:moveTo>
                <a:lnTo>
                  <a:pt x="944620" y="0"/>
                </a:lnTo>
                <a:lnTo>
                  <a:pt x="944620" y="765428"/>
                </a:lnTo>
                <a:lnTo>
                  <a:pt x="0" y="7654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095" r="0" b="-309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23375" y="8739004"/>
            <a:ext cx="885617" cy="764490"/>
          </a:xfrm>
          <a:custGeom>
            <a:avLst/>
            <a:gdLst/>
            <a:ahLst/>
            <a:cxnLst/>
            <a:rect r="r" b="b" t="t" l="l"/>
            <a:pathLst>
              <a:path h="764490" w="885617">
                <a:moveTo>
                  <a:pt x="0" y="0"/>
                </a:moveTo>
                <a:lnTo>
                  <a:pt x="885616" y="0"/>
                </a:lnTo>
                <a:lnTo>
                  <a:pt x="885616" y="764490"/>
                </a:lnTo>
                <a:lnTo>
                  <a:pt x="0" y="764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95" r="0" b="-309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15659" y="580711"/>
            <a:ext cx="9902349" cy="96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Key Random Variables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78284" y="6702609"/>
            <a:ext cx="5250472" cy="287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</a:pPr>
            <a:r>
              <a:rPr lang="en-US" sz="34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</a:t>
            </a:r>
            <a:r>
              <a:rPr lang="en-US" sz="34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ese variables determine:</a:t>
            </a:r>
          </a:p>
          <a:p>
            <a:pPr algn="just" marL="754429" indent="-377214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drone movement</a:t>
            </a:r>
          </a:p>
          <a:p>
            <a:pPr algn="just" marL="754429" indent="-377214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density evolution</a:t>
            </a:r>
          </a:p>
          <a:p>
            <a:pPr algn="just" marL="754429" indent="-377214" lvl="1">
              <a:lnSpc>
                <a:spcPts val="4892"/>
              </a:lnSpc>
              <a:buFont typeface="Arial"/>
              <a:buChar char="•"/>
            </a:pPr>
            <a:r>
              <a:rPr lang="en-US" sz="349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handover event</a:t>
            </a:r>
          </a:p>
          <a:p>
            <a:pPr algn="just">
              <a:lnSpc>
                <a:spcPts val="281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447186" y="2052940"/>
            <a:ext cx="10147459" cy="561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simulation uses random variables to model drone mobility.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688437" y="551797"/>
            <a:ext cx="6264740" cy="1725796"/>
          </a:xfrm>
          <a:custGeom>
            <a:avLst/>
            <a:gdLst/>
            <a:ahLst/>
            <a:cxnLst/>
            <a:rect r="r" b="b" t="t" l="l"/>
            <a:pathLst>
              <a:path h="1725796" w="6264740">
                <a:moveTo>
                  <a:pt x="0" y="0"/>
                </a:moveTo>
                <a:lnTo>
                  <a:pt x="6264740" y="0"/>
                </a:lnTo>
                <a:lnTo>
                  <a:pt x="6264740" y="1725796"/>
                </a:lnTo>
                <a:lnTo>
                  <a:pt x="0" y="1725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5630" y="8395402"/>
            <a:ext cx="6264740" cy="1725796"/>
          </a:xfrm>
          <a:custGeom>
            <a:avLst/>
            <a:gdLst/>
            <a:ahLst/>
            <a:cxnLst/>
            <a:rect r="r" b="b" t="t" l="l"/>
            <a:pathLst>
              <a:path h="1725796" w="6264740">
                <a:moveTo>
                  <a:pt x="0" y="0"/>
                </a:moveTo>
                <a:lnTo>
                  <a:pt x="6264740" y="0"/>
                </a:lnTo>
                <a:lnTo>
                  <a:pt x="6264740" y="1725796"/>
                </a:lnTo>
                <a:lnTo>
                  <a:pt x="0" y="1725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74469" y="2496668"/>
            <a:ext cx="10419274" cy="396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0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Drone locations follow PPP :           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ΦD ∼ PPP(λ0)</a:t>
            </a:r>
          </a:p>
          <a:p>
            <a:pPr algn="l">
              <a:lnSpc>
                <a:spcPts val="3160"/>
              </a:lnSpc>
            </a:pPr>
          </a:p>
          <a:p>
            <a:pPr algn="l">
              <a:lnSpc>
                <a:spcPts val="3160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Drone speed is random :                   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V∼</a:t>
            </a:r>
            <a:r>
              <a:rPr lang="en-US" sz="2899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</a:t>
            </a:r>
            <a:r>
              <a:rPr lang="en-US" sz="2899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v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)</a:t>
            </a:r>
          </a:p>
          <a:p>
            <a:pPr algn="l">
              <a:lnSpc>
                <a:spcPts val="3160"/>
              </a:lnSpc>
            </a:pPr>
          </a:p>
          <a:p>
            <a:pPr algn="l">
              <a:lnSpc>
                <a:spcPts val="3160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Movement direction is random :      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θ∼U(0,2π)</a:t>
            </a:r>
          </a:p>
          <a:p>
            <a:pPr algn="l">
              <a:lnSpc>
                <a:spcPts val="3160"/>
              </a:lnSpc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Deterministic baseline rule: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User always connects to nearest drone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 randomness in association decision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833966" y="2262198"/>
            <a:ext cx="5454034" cy="2231196"/>
          </a:xfrm>
          <a:custGeom>
            <a:avLst/>
            <a:gdLst/>
            <a:ahLst/>
            <a:cxnLst/>
            <a:rect r="r" b="b" t="t" l="l"/>
            <a:pathLst>
              <a:path h="2231196" w="5454034">
                <a:moveTo>
                  <a:pt x="0" y="0"/>
                </a:moveTo>
                <a:lnTo>
                  <a:pt x="5454034" y="0"/>
                </a:lnTo>
                <a:lnTo>
                  <a:pt x="5454034" y="2231196"/>
                </a:lnTo>
                <a:lnTo>
                  <a:pt x="0" y="223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596802" y="762702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60598" y="456427"/>
            <a:ext cx="17017076" cy="768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48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Probabilistic Modeling with Deterministic Decisions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4469" y="6585726"/>
            <a:ext cx="10900095" cy="323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Handover event:</a:t>
            </a:r>
          </a:p>
          <a:p>
            <a:pPr algn="ctr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H(t)={∃ drone closer than serving drone}</a:t>
            </a:r>
          </a:p>
          <a:p>
            <a:pPr algn="ctr">
              <a:lnSpc>
                <a:spcPts val="3248"/>
              </a:lnSpc>
            </a:pPr>
          </a:p>
          <a:p>
            <a:pPr algn="just">
              <a:lnSpc>
                <a:spcPts val="3248"/>
              </a:lnSpc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So: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environment random</a:t>
            </a:r>
          </a:p>
          <a:p>
            <a:pPr algn="just" marL="626111" indent="-313055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decision rule is fixed</a:t>
            </a:r>
          </a:p>
          <a:p>
            <a:pPr algn="just">
              <a:lnSpc>
                <a:spcPts val="310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43933" y="1539740"/>
            <a:ext cx="4848820" cy="554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Assumptions used in simulation: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0662" y="232591"/>
            <a:ext cx="6398809" cy="9821817"/>
            <a:chOff x="0" y="0"/>
            <a:chExt cx="991343" cy="1521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1343" cy="1521657"/>
            </a:xfrm>
            <a:custGeom>
              <a:avLst/>
              <a:gdLst/>
              <a:ahLst/>
              <a:cxnLst/>
              <a:rect r="r" b="b" t="t" l="l"/>
              <a:pathLst>
                <a:path h="1521657" w="991343">
                  <a:moveTo>
                    <a:pt x="27828" y="0"/>
                  </a:moveTo>
                  <a:lnTo>
                    <a:pt x="963515" y="0"/>
                  </a:lnTo>
                  <a:cubicBezTo>
                    <a:pt x="978884" y="0"/>
                    <a:pt x="991343" y="12459"/>
                    <a:pt x="991343" y="27828"/>
                  </a:cubicBezTo>
                  <a:lnTo>
                    <a:pt x="991343" y="1493829"/>
                  </a:lnTo>
                  <a:cubicBezTo>
                    <a:pt x="991343" y="1509198"/>
                    <a:pt x="978884" y="1521657"/>
                    <a:pt x="963515" y="1521657"/>
                  </a:cubicBezTo>
                  <a:lnTo>
                    <a:pt x="27828" y="1521657"/>
                  </a:lnTo>
                  <a:cubicBezTo>
                    <a:pt x="12459" y="1521657"/>
                    <a:pt x="0" y="1509198"/>
                    <a:pt x="0" y="1493829"/>
                  </a:cubicBezTo>
                  <a:lnTo>
                    <a:pt x="0" y="27828"/>
                  </a:lnTo>
                  <a:cubicBezTo>
                    <a:pt x="0" y="12459"/>
                    <a:pt x="12459" y="0"/>
                    <a:pt x="27828" y="0"/>
                  </a:cubicBezTo>
                  <a:close/>
                </a:path>
              </a:pathLst>
            </a:custGeom>
            <a:blipFill>
              <a:blip r:embed="rId3"/>
              <a:stretch>
                <a:fillRect l="-223983" t="0" r="-8744" b="-1841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-10800000">
            <a:off x="15832586" y="-2728690"/>
            <a:ext cx="6639005" cy="4114800"/>
          </a:xfrm>
          <a:custGeom>
            <a:avLst/>
            <a:gdLst/>
            <a:ahLst/>
            <a:cxnLst/>
            <a:rect r="r" b="b" t="t" l="l"/>
            <a:pathLst>
              <a:path h="4114800" w="6639005">
                <a:moveTo>
                  <a:pt x="0" y="0"/>
                </a:moveTo>
                <a:lnTo>
                  <a:pt x="6639005" y="0"/>
                </a:lnTo>
                <a:lnTo>
                  <a:pt x="66390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41230" y="1564458"/>
            <a:ext cx="11104512" cy="891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sys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tem uses a deterministic baseline association strategy in which the user always connects to the nearest drone base station.</a:t>
            </a:r>
          </a:p>
          <a:p>
            <a:pPr algn="just">
              <a:lnSpc>
                <a:spcPts val="3419"/>
              </a:lnSpc>
            </a:pPr>
          </a:p>
          <a:p>
            <a:pPr algn="just">
              <a:lnSpc>
                <a:spcPts val="341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Neare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st–neighbor association rule:</a:t>
            </a:r>
          </a:p>
          <a:p>
            <a:pPr algn="just">
              <a:lnSpc>
                <a:spcPts val="3419"/>
              </a:lnSpc>
            </a:pP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Φ = set of drone base stations</a:t>
            </a:r>
          </a:p>
          <a:p>
            <a:pPr algn="l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= user location</a:t>
            </a:r>
          </a:p>
          <a:p>
            <a:pPr algn="l" marL="647694" indent="-323847" lvl="1">
              <a:lnSpc>
                <a:spcPts val="34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*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= serving drone</a:t>
            </a:r>
          </a:p>
          <a:p>
            <a:pPr algn="l">
              <a:lnSpc>
                <a:spcPts val="3449"/>
              </a:lnSpc>
            </a:pPr>
          </a:p>
          <a:p>
            <a:pPr algn="just">
              <a:lnSpc>
                <a:spcPts val="344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Logic behind deterministic baseline: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nearest drone provides the strongest average signal.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rul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 is commonly used in cellular network analysis.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allows tractable modeling using stochastic geometry.</a:t>
            </a:r>
          </a:p>
          <a:p>
            <a:pPr algn="just" marL="647694" indent="-323847" lvl="1">
              <a:lnSpc>
                <a:spcPts val="344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</a:t>
            </a: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ensures that randomness comes only from drone mobility.</a:t>
            </a:r>
          </a:p>
          <a:p>
            <a:pPr algn="just">
              <a:lnSpc>
                <a:spcPts val="3449"/>
              </a:lnSpc>
            </a:pPr>
          </a:p>
          <a:p>
            <a:pPr algn="just">
              <a:lnSpc>
                <a:spcPts val="344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Therefore, the deterministic baseline is used as a reference model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to study the effect of drone movement on handover probability.</a:t>
            </a:r>
          </a:p>
          <a:p>
            <a:pPr algn="just">
              <a:lnSpc>
                <a:spcPts val="40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900873" y="3421631"/>
            <a:ext cx="4785226" cy="817987"/>
          </a:xfrm>
          <a:custGeom>
            <a:avLst/>
            <a:gdLst/>
            <a:ahLst/>
            <a:cxnLst/>
            <a:rect r="r" b="b" t="t" l="l"/>
            <a:pathLst>
              <a:path h="817987" w="4785226">
                <a:moveTo>
                  <a:pt x="0" y="0"/>
                </a:moveTo>
                <a:lnTo>
                  <a:pt x="4785226" y="0"/>
                </a:lnTo>
                <a:lnTo>
                  <a:pt x="4785226" y="817987"/>
                </a:lnTo>
                <a:lnTo>
                  <a:pt x="0" y="817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590583" y="213541"/>
            <a:ext cx="8682457" cy="77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Deterministic Baseline Logic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6022"/>
            <a:ext cx="12983169" cy="106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Simulation 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26754"/>
            <a:ext cx="11217116" cy="5524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7"/>
              </a:lnSpc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Simulati</a:t>
            </a: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 was implemented in Python based on the reference paper.</a:t>
            </a:r>
          </a:p>
          <a:p>
            <a:pPr algn="l">
              <a:lnSpc>
                <a:spcPts val="3657"/>
              </a:lnSpc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original MATLAB simulation code was converted to Python and executed.</a:t>
            </a:r>
          </a:p>
          <a:p>
            <a:pPr algn="l">
              <a:lnSpc>
                <a:spcPts val="3657"/>
              </a:lnSpc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Two simulation modules were used:</a:t>
            </a:r>
          </a:p>
          <a:p>
            <a:pPr algn="l" marL="564098" indent="-282049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Density simulation</a:t>
            </a:r>
          </a:p>
          <a:p>
            <a:pPr algn="l" marL="1128196" indent="-376065" lvl="2">
              <a:lnSpc>
                <a:spcPts val="3657"/>
              </a:lnSpc>
              <a:buFont typeface="Arial"/>
              <a:buChar char="⚬"/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</a:t>
            </a: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 density of non-serving drone base stations over time</a:t>
            </a:r>
          </a:p>
          <a:p>
            <a:pPr algn="l" marL="564098" indent="-282049" lvl="1">
              <a:lnSpc>
                <a:spcPts val="3657"/>
              </a:lnSpc>
              <a:buFont typeface="Arial"/>
              <a:buChar char="•"/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</a:t>
            </a: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dover simulation</a:t>
            </a:r>
          </a:p>
          <a:p>
            <a:pPr algn="l" marL="1128196" indent="-376065" lvl="2">
              <a:lnSpc>
                <a:spcPts val="3657"/>
              </a:lnSpc>
              <a:buFont typeface="Arial"/>
              <a:buChar char="⚬"/>
            </a:pP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Computes probability of </a:t>
            </a:r>
            <a:r>
              <a:rPr lang="en-US" sz="261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handover for different time values</a:t>
            </a:r>
          </a:p>
          <a:p>
            <a:pPr algn="l">
              <a:lnSpc>
                <a:spcPts val="3657"/>
              </a:lnSpc>
            </a:pPr>
          </a:p>
          <a:p>
            <a:pPr algn="l">
              <a:lnSpc>
                <a:spcPts val="3657"/>
              </a:lnSpc>
            </a:pPr>
          </a:p>
          <a:p>
            <a:pPr algn="l">
              <a:lnSpc>
                <a:spcPts val="3657"/>
              </a:lnSpc>
            </a:pPr>
          </a:p>
          <a:p>
            <a:pPr algn="l">
              <a:lnSpc>
                <a:spcPts val="3657"/>
              </a:lnSpc>
            </a:pPr>
          </a:p>
          <a:p>
            <a:pPr algn="l">
              <a:lnSpc>
                <a:spcPts val="365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41464" y="5321365"/>
            <a:ext cx="6205514" cy="41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b="true" sz="2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Implementation of Density Simulation: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Change speed parameters and use 3 different variations - 45kmh, 60kmh and 80kmh 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Run simulation 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Generate plots for density 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results with theoretical expressions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31434" y="5472565"/>
            <a:ext cx="6205514" cy="418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  <a:spcBef>
                <a:spcPct val="0"/>
              </a:spcBef>
            </a:pPr>
            <a:r>
              <a:rPr lang="en-US" b="true" sz="2692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Implementation of Handover Simulation:</a:t>
            </a:r>
          </a:p>
          <a:p>
            <a:pPr algn="l">
              <a:lnSpc>
                <a:spcPts val="3365"/>
              </a:lnSpc>
              <a:spcBef>
                <a:spcPct val="0"/>
              </a:spcBef>
            </a:pP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Implemented the simulation setup for both mobility scenarios: SSM and DSM.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Run simulation 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Generate plots for density </a:t>
            </a:r>
          </a:p>
          <a:p>
            <a:pPr algn="l" marL="581272" indent="-290636" lvl="1">
              <a:lnSpc>
                <a:spcPts val="3365"/>
              </a:lnSpc>
              <a:buFont typeface="Arial"/>
              <a:buChar char="•"/>
            </a:pPr>
            <a:r>
              <a:rPr lang="en-US" sz="2692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Compare results with theoretical expressions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16599223" cy="8689315"/>
          </a:xfrm>
          <a:custGeom>
            <a:avLst/>
            <a:gdLst/>
            <a:ahLst/>
            <a:cxnLst/>
            <a:rect r="r" b="b" t="t" l="l"/>
            <a:pathLst>
              <a:path h="8689315" w="16599223">
                <a:moveTo>
                  <a:pt x="0" y="0"/>
                </a:moveTo>
                <a:lnTo>
                  <a:pt x="16599223" y="0"/>
                </a:lnTo>
                <a:lnTo>
                  <a:pt x="16599223" y="8689315"/>
                </a:lnTo>
                <a:lnTo>
                  <a:pt x="0" y="8689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80" t="0" r="-3980" b="-183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6087" y="338400"/>
            <a:ext cx="11198105" cy="5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3392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and Performance Analysis : Density Simulation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20194" y="6640249"/>
            <a:ext cx="2157770" cy="347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7"/>
              </a:lnSpc>
              <a:spcBef>
                <a:spcPct val="0"/>
              </a:spcBef>
            </a:pPr>
            <a:r>
              <a:rPr lang="en-US" b="true" sz="2205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Speed 45 km/hr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1003" y="1308473"/>
            <a:ext cx="17185995" cy="8485585"/>
          </a:xfrm>
          <a:custGeom>
            <a:avLst/>
            <a:gdLst/>
            <a:ahLst/>
            <a:cxnLst/>
            <a:rect r="r" b="b" t="t" l="l"/>
            <a:pathLst>
              <a:path h="8485585" w="17185995">
                <a:moveTo>
                  <a:pt x="0" y="0"/>
                </a:moveTo>
                <a:lnTo>
                  <a:pt x="17185994" y="0"/>
                </a:lnTo>
                <a:lnTo>
                  <a:pt x="17185994" y="8485585"/>
                </a:lnTo>
                <a:lnTo>
                  <a:pt x="0" y="8485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6087" y="338400"/>
            <a:ext cx="11198105" cy="5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3392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and Performance Analysis : Density Simulation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82025" y="6374770"/>
            <a:ext cx="8400883" cy="45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4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Speed 60 km/hr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6350" y="1220839"/>
            <a:ext cx="17069932" cy="8383768"/>
          </a:xfrm>
          <a:custGeom>
            <a:avLst/>
            <a:gdLst/>
            <a:ahLst/>
            <a:cxnLst/>
            <a:rect r="r" b="b" t="t" l="l"/>
            <a:pathLst>
              <a:path h="8383768" w="17069932">
                <a:moveTo>
                  <a:pt x="0" y="0"/>
                </a:moveTo>
                <a:lnTo>
                  <a:pt x="17069932" y="0"/>
                </a:lnTo>
                <a:lnTo>
                  <a:pt x="17069932" y="8383768"/>
                </a:lnTo>
                <a:lnTo>
                  <a:pt x="0" y="8383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5" r="0" b="-26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6087" y="338400"/>
            <a:ext cx="11198105" cy="5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3392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and Performance Analysis : Density Simulation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67772" y="6691295"/>
            <a:ext cx="2836902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Speed 80 km/hr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6983" y="1214641"/>
            <a:ext cx="17319695" cy="8551600"/>
          </a:xfrm>
          <a:custGeom>
            <a:avLst/>
            <a:gdLst/>
            <a:ahLst/>
            <a:cxnLst/>
            <a:rect r="r" b="b" t="t" l="l"/>
            <a:pathLst>
              <a:path h="8551600" w="17319695">
                <a:moveTo>
                  <a:pt x="0" y="0"/>
                </a:moveTo>
                <a:lnTo>
                  <a:pt x="17319695" y="0"/>
                </a:lnTo>
                <a:lnTo>
                  <a:pt x="17319695" y="8551600"/>
                </a:lnTo>
                <a:lnTo>
                  <a:pt x="0" y="855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6087" y="338400"/>
            <a:ext cx="11721487" cy="52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</a:pPr>
            <a:r>
              <a:rPr lang="en-US" sz="3392" b="true">
                <a:solidFill>
                  <a:srgbClr val="FFFFFF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Results and Performance Analysis : Handover Simulation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21836" y="6691295"/>
            <a:ext cx="3528774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25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1,00,000 Simulations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96802" y="762702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1048" y="3008702"/>
            <a:ext cx="8641951" cy="510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Nea</a:t>
            </a: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rest-drone rule limitations: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ignores signal strength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ignores interference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ignores network load</a:t>
            </a:r>
          </a:p>
          <a:p>
            <a:pPr algn="just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sensitive to mobility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speed → many handovers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density → more switching</a:t>
            </a:r>
          </a:p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Need smarter strategies.</a:t>
            </a:r>
          </a:p>
          <a:p>
            <a:pPr algn="just">
              <a:lnSpc>
                <a:spcPts val="447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67179" y="2970739"/>
            <a:ext cx="7512991" cy="5300074"/>
          </a:xfrm>
          <a:custGeom>
            <a:avLst/>
            <a:gdLst/>
            <a:ahLst/>
            <a:cxnLst/>
            <a:rect r="r" b="b" t="t" l="l"/>
            <a:pathLst>
              <a:path h="5300074" w="7512991">
                <a:moveTo>
                  <a:pt x="0" y="0"/>
                </a:moveTo>
                <a:lnTo>
                  <a:pt x="7512991" y="0"/>
                </a:lnTo>
                <a:lnTo>
                  <a:pt x="7512991" y="5300073"/>
                </a:lnTo>
                <a:lnTo>
                  <a:pt x="0" y="53000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97488" y="1272296"/>
            <a:ext cx="13493024" cy="923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99"/>
              </a:lnSpc>
            </a:pPr>
            <a:r>
              <a:rPr lang="en-US" sz="59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Limitations of Deterministic Strategy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625" t="0" r="-90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0248" y="2713514"/>
            <a:ext cx="5998419" cy="7049801"/>
            <a:chOff x="0" y="0"/>
            <a:chExt cx="881545" cy="10360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1545" cy="1036059"/>
            </a:xfrm>
            <a:custGeom>
              <a:avLst/>
              <a:gdLst/>
              <a:ahLst/>
              <a:cxnLst/>
              <a:rect r="r" b="b" t="t" l="l"/>
              <a:pathLst>
                <a:path h="1036059" w="881545">
                  <a:moveTo>
                    <a:pt x="29685" y="0"/>
                  </a:moveTo>
                  <a:lnTo>
                    <a:pt x="851859" y="0"/>
                  </a:lnTo>
                  <a:cubicBezTo>
                    <a:pt x="859732" y="0"/>
                    <a:pt x="867283" y="3128"/>
                    <a:pt x="872850" y="8695"/>
                  </a:cubicBezTo>
                  <a:cubicBezTo>
                    <a:pt x="878417" y="14262"/>
                    <a:pt x="881545" y="21812"/>
                    <a:pt x="881545" y="29685"/>
                  </a:cubicBezTo>
                  <a:lnTo>
                    <a:pt x="881545" y="1006373"/>
                  </a:lnTo>
                  <a:cubicBezTo>
                    <a:pt x="881545" y="1014246"/>
                    <a:pt x="878417" y="1021797"/>
                    <a:pt x="872850" y="1027364"/>
                  </a:cubicBezTo>
                  <a:cubicBezTo>
                    <a:pt x="867283" y="1032931"/>
                    <a:pt x="859732" y="1036059"/>
                    <a:pt x="851859" y="1036059"/>
                  </a:cubicBezTo>
                  <a:lnTo>
                    <a:pt x="29685" y="1036059"/>
                  </a:lnTo>
                  <a:cubicBezTo>
                    <a:pt x="21812" y="1036059"/>
                    <a:pt x="14262" y="1032931"/>
                    <a:pt x="8695" y="1027364"/>
                  </a:cubicBezTo>
                  <a:cubicBezTo>
                    <a:pt x="3128" y="1021797"/>
                    <a:pt x="0" y="1014246"/>
                    <a:pt x="0" y="1006373"/>
                  </a:cubicBezTo>
                  <a:lnTo>
                    <a:pt x="0" y="29685"/>
                  </a:lnTo>
                  <a:cubicBezTo>
                    <a:pt x="0" y="21812"/>
                    <a:pt x="3128" y="14262"/>
                    <a:pt x="8695" y="8695"/>
                  </a:cubicBezTo>
                  <a:cubicBezTo>
                    <a:pt x="14262" y="3128"/>
                    <a:pt x="21812" y="0"/>
                    <a:pt x="29685" y="0"/>
                  </a:cubicBezTo>
                  <a:close/>
                </a:path>
              </a:pathLst>
            </a:custGeom>
            <a:blipFill>
              <a:blip r:embed="rId3"/>
              <a:stretch>
                <a:fillRect l="-70134" t="0" r="-4501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6444776" y="1539887"/>
            <a:ext cx="6236961" cy="4114800"/>
          </a:xfrm>
          <a:custGeom>
            <a:avLst/>
            <a:gdLst/>
            <a:ahLst/>
            <a:cxnLst/>
            <a:rect r="r" b="b" t="t" l="l"/>
            <a:pathLst>
              <a:path h="4114800" w="6236961">
                <a:moveTo>
                  <a:pt x="0" y="0"/>
                </a:moveTo>
                <a:lnTo>
                  <a:pt x="6236960" y="0"/>
                </a:lnTo>
                <a:lnTo>
                  <a:pt x="62369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-3715693" y="5300934"/>
            <a:ext cx="6236961" cy="4114800"/>
          </a:xfrm>
          <a:custGeom>
            <a:avLst/>
            <a:gdLst/>
            <a:ahLst/>
            <a:cxnLst/>
            <a:rect r="r" b="b" t="t" l="l"/>
            <a:pathLst>
              <a:path h="4114800" w="6236961">
                <a:moveTo>
                  <a:pt x="6236961" y="0"/>
                </a:moveTo>
                <a:lnTo>
                  <a:pt x="0" y="0"/>
                </a:lnTo>
                <a:lnTo>
                  <a:pt x="0" y="4114800"/>
                </a:lnTo>
                <a:lnTo>
                  <a:pt x="6236961" y="4114800"/>
                </a:lnTo>
                <a:lnTo>
                  <a:pt x="62369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23854" y="456576"/>
            <a:ext cx="16535446" cy="213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9"/>
              </a:lnSpc>
            </a:pPr>
            <a:r>
              <a:rPr lang="en-US" sz="6799" b="true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Summary and Transition to Randomized Strategies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15942" y="2817669"/>
            <a:ext cx="9068255" cy="6727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Summary: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</a:t>
            </a: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one network modeled using stochastic geometry.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Simulation used to verify theory.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Density and handover probability computed.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Deterministic nearest-drone rule used.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Observation: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mobility increases handovers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deterministic rule not always optimal</a:t>
            </a:r>
          </a:p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Future work: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adaptive association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probabilistic strategy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mobility-aware selection</a:t>
            </a:r>
          </a:p>
          <a:p>
            <a:pPr algn="just">
              <a:lnSpc>
                <a:spcPts val="405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DAHDgzPuKBg</dc:identifier>
  <dcterms:modified xsi:type="dcterms:W3CDTF">2011-08-01T06:04:30Z</dcterms:modified>
  <cp:revision>1</cp:revision>
  <dc:title>ppt_M3</dc:title>
</cp:coreProperties>
</file>