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aret" charset="1" panose="00000000000000000000"/>
      <p:regular r:id="rId18"/>
    </p:embeddedFont>
    <p:embeddedFont>
      <p:font typeface="Garet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4749208" y="442437"/>
            <a:ext cx="1942880" cy="3115405"/>
          </a:xfrm>
          <a:custGeom>
            <a:avLst/>
            <a:gdLst/>
            <a:ahLst/>
            <a:cxnLst/>
            <a:rect r="r" b="b" t="t" l="l"/>
            <a:pathLst>
              <a:path h="3115405" w="1942880">
                <a:moveTo>
                  <a:pt x="0" y="3115405"/>
                </a:moveTo>
                <a:lnTo>
                  <a:pt x="1942879" y="3115405"/>
                </a:lnTo>
                <a:lnTo>
                  <a:pt x="1942879" y="0"/>
                </a:lnTo>
                <a:lnTo>
                  <a:pt x="0" y="0"/>
                </a:lnTo>
                <a:lnTo>
                  <a:pt x="0" y="31154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856392" y="7855392"/>
            <a:ext cx="4863216" cy="486321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778238" y="-2078935"/>
            <a:ext cx="4157869" cy="415786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82182" y="1379733"/>
            <a:ext cx="6561734" cy="595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80"/>
              </a:lnSpc>
              <a:spcBef>
                <a:spcPct val="0"/>
              </a:spcBef>
            </a:pPr>
            <a:r>
              <a:rPr lang="en-US" sz="3557" spc="20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CSE 400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93857" y="8677406"/>
            <a:ext cx="2369191" cy="580894"/>
          </a:xfrm>
          <a:custGeom>
            <a:avLst/>
            <a:gdLst/>
            <a:ahLst/>
            <a:cxnLst/>
            <a:rect r="r" b="b" t="t" l="l"/>
            <a:pathLst>
              <a:path h="580894" w="2369191">
                <a:moveTo>
                  <a:pt x="0" y="0"/>
                </a:moveTo>
                <a:lnTo>
                  <a:pt x="2369192" y="0"/>
                </a:lnTo>
                <a:lnTo>
                  <a:pt x="2369192" y="580894"/>
                </a:lnTo>
                <a:lnTo>
                  <a:pt x="0" y="580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73805" b="-28794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59035" y="3843596"/>
            <a:ext cx="9388527" cy="2771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371"/>
              </a:lnSpc>
            </a:pPr>
            <a:r>
              <a:rPr lang="en-US" b="true" sz="6035" spc="205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HANDOVER </a:t>
            </a:r>
            <a:r>
              <a:rPr lang="en-US" b="true" sz="6035" spc="205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PROBABILITY ANALYSIS IN DRONE CELLULAR NETWORKS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58341" y="9258300"/>
            <a:ext cx="2681353" cy="2681353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304358" y="9191625"/>
            <a:ext cx="6561734" cy="58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0"/>
              </a:lnSpc>
              <a:spcBef>
                <a:spcPct val="0"/>
              </a:spcBef>
            </a:pPr>
            <a:r>
              <a:rPr lang="en-US" sz="3457" spc="1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s1_g14_net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5400000">
            <a:off x="16192843" y="5123039"/>
            <a:ext cx="2369191" cy="580894"/>
          </a:xfrm>
          <a:custGeom>
            <a:avLst/>
            <a:gdLst/>
            <a:ahLst/>
            <a:cxnLst/>
            <a:rect r="r" b="b" t="t" l="l"/>
            <a:pathLst>
              <a:path h="580894" w="2369191">
                <a:moveTo>
                  <a:pt x="0" y="0"/>
                </a:moveTo>
                <a:lnTo>
                  <a:pt x="2369192" y="0"/>
                </a:lnTo>
                <a:lnTo>
                  <a:pt x="2369192" y="580894"/>
                </a:lnTo>
                <a:lnTo>
                  <a:pt x="0" y="580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73805" b="-28794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921156" y="8001164"/>
            <a:ext cx="1340676" cy="2149773"/>
          </a:xfrm>
          <a:custGeom>
            <a:avLst/>
            <a:gdLst/>
            <a:ahLst/>
            <a:cxnLst/>
            <a:rect r="r" b="b" t="t" l="l"/>
            <a:pathLst>
              <a:path h="2149773" w="1340676">
                <a:moveTo>
                  <a:pt x="0" y="2149772"/>
                </a:moveTo>
                <a:lnTo>
                  <a:pt x="1340676" y="2149772"/>
                </a:lnTo>
                <a:lnTo>
                  <a:pt x="1340676" y="0"/>
                </a:lnTo>
                <a:lnTo>
                  <a:pt x="0" y="0"/>
                </a:lnTo>
                <a:lnTo>
                  <a:pt x="0" y="21497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80365" y="-1363471"/>
            <a:ext cx="4157869" cy="41578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284012" y="8405712"/>
            <a:ext cx="1340676" cy="13406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16607" y="5272454"/>
            <a:ext cx="13449886" cy="235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Und</a:t>
            </a: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erstanding PDF/CDF formulas for all random variables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Deriving nearest-neighbor distance distribution from PPP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Generating simulation plots to validate theoretical distributions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Explaining why DSM yields lower handover probability than SSM</a:t>
            </a:r>
          </a:p>
          <a:p>
            <a:pPr algn="just">
              <a:lnSpc>
                <a:spcPts val="379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03324" y="9258300"/>
            <a:ext cx="2681353" cy="268135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 flipH="true" flipV="true">
            <a:off x="11364417" y="1622075"/>
            <a:ext cx="5589933" cy="7453976"/>
          </a:xfrm>
          <a:prstGeom prst="line">
            <a:avLst/>
          </a:prstGeom>
          <a:ln cap="flat" w="47625">
            <a:solidFill>
              <a:srgbClr val="40536B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17024656" y="794056"/>
            <a:ext cx="469288" cy="469288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63471" y="1219200"/>
            <a:ext cx="10453662" cy="160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b="true" sz="6806" spc="231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PROJECT OBJECT</a:t>
            </a:r>
            <a:r>
              <a:rPr lang="en-US" b="true" sz="6806" spc="231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IVE AND SCOPE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16607" y="3542323"/>
            <a:ext cx="13449886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erive probability distributions for random variables and compute P[H(t)] analytically for SSM(Same speed model) and DSM(Different speed mode) models.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0800000">
            <a:off x="16714733" y="5372806"/>
            <a:ext cx="1340676" cy="2149773"/>
          </a:xfrm>
          <a:custGeom>
            <a:avLst/>
            <a:gdLst/>
            <a:ahLst/>
            <a:cxnLst/>
            <a:rect r="r" b="b" t="t" l="l"/>
            <a:pathLst>
              <a:path h="2149773" w="1340676">
                <a:moveTo>
                  <a:pt x="0" y="2149773"/>
                </a:moveTo>
                <a:lnTo>
                  <a:pt x="1340676" y="2149773"/>
                </a:lnTo>
                <a:lnTo>
                  <a:pt x="1340676" y="0"/>
                </a:lnTo>
                <a:lnTo>
                  <a:pt x="0" y="0"/>
                </a:lnTo>
                <a:lnTo>
                  <a:pt x="0" y="214977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80365" y="-1363471"/>
            <a:ext cx="4157869" cy="41578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8362" y="8405712"/>
            <a:ext cx="1340676" cy="13406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03324" y="9258300"/>
            <a:ext cx="2681353" cy="268135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1052512" y="1521800"/>
            <a:ext cx="4475889" cy="7453976"/>
          </a:xfrm>
          <a:prstGeom prst="line">
            <a:avLst/>
          </a:prstGeom>
          <a:ln cap="flat" w="476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38495F">
                    <a:alpha val="100000"/>
                  </a:srgbClr>
                </a:gs>
              </a:gsLst>
              <a:lin ang="5400000"/>
            </a:gradFill>
            <a:prstDash val="solid"/>
            <a:headEnd type="oval" len="lg" w="lg"/>
            <a:tailEnd type="oval" len="lg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894183" y="1287156"/>
            <a:ext cx="469288" cy="46928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23104" y="2466232"/>
            <a:ext cx="5246370" cy="5354537"/>
            <a:chOff x="0" y="0"/>
            <a:chExt cx="812800" cy="8295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29558"/>
            </a:xfrm>
            <a:custGeom>
              <a:avLst/>
              <a:gdLst/>
              <a:ahLst/>
              <a:cxnLst/>
              <a:rect r="r" b="b" t="t" l="l"/>
              <a:pathLst>
                <a:path h="829558" w="812800">
                  <a:moveTo>
                    <a:pt x="85589" y="0"/>
                  </a:moveTo>
                  <a:lnTo>
                    <a:pt x="727211" y="0"/>
                  </a:lnTo>
                  <a:cubicBezTo>
                    <a:pt x="774481" y="0"/>
                    <a:pt x="812800" y="38319"/>
                    <a:pt x="812800" y="85589"/>
                  </a:cubicBezTo>
                  <a:lnTo>
                    <a:pt x="812800" y="743969"/>
                  </a:lnTo>
                  <a:cubicBezTo>
                    <a:pt x="812800" y="791238"/>
                    <a:pt x="774481" y="829558"/>
                    <a:pt x="727211" y="829558"/>
                  </a:cubicBezTo>
                  <a:lnTo>
                    <a:pt x="85589" y="829558"/>
                  </a:lnTo>
                  <a:cubicBezTo>
                    <a:pt x="38319" y="829558"/>
                    <a:pt x="0" y="791238"/>
                    <a:pt x="0" y="743969"/>
                  </a:cubicBezTo>
                  <a:lnTo>
                    <a:pt x="0" y="85589"/>
                  </a:lnTo>
                  <a:cubicBezTo>
                    <a:pt x="0" y="38319"/>
                    <a:pt x="38319" y="0"/>
                    <a:pt x="85589" y="0"/>
                  </a:cubicBezTo>
                  <a:close/>
                </a:path>
              </a:pathLst>
            </a:custGeom>
            <a:blipFill>
              <a:blip r:embed="rId4"/>
              <a:stretch>
                <a:fillRect l="-13530" t="0" r="-38233" b="0"/>
              </a:stretch>
            </a:blipFill>
            <a:ln w="38100" cap="rnd">
              <a:gradFill>
                <a:gsLst>
                  <a:gs pos="0">
                    <a:srgbClr val="414F61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6829052" y="1838969"/>
            <a:ext cx="10945347" cy="859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03"/>
              </a:lnSpc>
            </a:pPr>
            <a:r>
              <a:rPr lang="en-US" b="true" sz="2699" spc="15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Mathematical Framework Flow:</a:t>
            </a:r>
          </a:p>
          <a:p>
            <a:pPr algn="just">
              <a:lnSpc>
                <a:spcPts val="3799"/>
              </a:lnSpc>
            </a:pP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FFDF6"/>
                </a:solidFill>
                <a:latin typeface="Garet Bold"/>
                <a:ea typeface="Garet Bold"/>
                <a:cs typeface="Garet Bold"/>
                <a:sym typeface="Garet Bold"/>
              </a:rPr>
              <a:t>1. PPP Theory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FFFDF6"/>
                </a:solidFill>
                <a:latin typeface="Garet"/>
                <a:ea typeface="Garet"/>
                <a:cs typeface="Garet"/>
                <a:sym typeface="Garet"/>
              </a:rPr>
              <a:t> Void probability formula → Nearest-neighbor distribution</a:t>
            </a:r>
          </a:p>
          <a:p>
            <a:pPr algn="just">
              <a:lnSpc>
                <a:spcPts val="3799"/>
              </a:lnSpc>
            </a:pP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FFDF6"/>
                </a:solidFill>
                <a:latin typeface="Garet Bold"/>
                <a:ea typeface="Garet Bold"/>
                <a:cs typeface="Garet Bold"/>
                <a:sym typeface="Garet Bold"/>
              </a:rPr>
              <a:t>2. Distribution Assignment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FFFDF6"/>
                </a:solidFill>
                <a:latin typeface="Garet"/>
                <a:ea typeface="Garet"/>
                <a:cs typeface="Garet"/>
                <a:sym typeface="Garet"/>
              </a:rPr>
              <a:t> Assign PDF/CDF to positions, directions, speeds</a:t>
            </a:r>
          </a:p>
          <a:p>
            <a:pPr algn="just">
              <a:lnSpc>
                <a:spcPts val="3799"/>
              </a:lnSpc>
            </a:pP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FFDF6"/>
                </a:solidFill>
                <a:latin typeface="Garet Bold"/>
                <a:ea typeface="Garet Bold"/>
                <a:cs typeface="Garet Bold"/>
                <a:sym typeface="Garet Bold"/>
              </a:rPr>
              <a:t>3. Temporal Evolution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FFFDF6"/>
                </a:solidFill>
                <a:latin typeface="Garet"/>
                <a:ea typeface="Garet"/>
                <a:cs typeface="Garet"/>
                <a:sym typeface="Garet"/>
              </a:rPr>
              <a:t> x(t) = x₀ + vt[cosθ, sinθ]</a:t>
            </a:r>
          </a:p>
          <a:p>
            <a:pPr algn="just">
              <a:lnSpc>
                <a:spcPts val="3799"/>
              </a:lnSpc>
            </a:pP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FFDF6"/>
                </a:solidFill>
                <a:latin typeface="Garet Bold"/>
                <a:ea typeface="Garet Bold"/>
                <a:cs typeface="Garet Bold"/>
                <a:sym typeface="Garet Bold"/>
              </a:rPr>
              <a:t>4. Integration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FFFDF6"/>
                </a:solidFill>
                <a:latin typeface="Garet"/>
                <a:ea typeface="Garet"/>
                <a:cs typeface="Garet"/>
                <a:sym typeface="Garet"/>
              </a:rPr>
              <a:t> Condition on (r, θ), integrate over all values</a:t>
            </a:r>
          </a:p>
          <a:p>
            <a:pPr algn="just">
              <a:lnSpc>
                <a:spcPts val="3799"/>
              </a:lnSpc>
            </a:pP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FFDF6"/>
                </a:solidFill>
                <a:latin typeface="Garet Bold"/>
                <a:ea typeface="Garet Bold"/>
                <a:cs typeface="Garet Bold"/>
                <a:sym typeface="Garet Bold"/>
              </a:rPr>
              <a:t>5. Handover Probability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FFFDF6"/>
                </a:solidFill>
                <a:latin typeface="Garet"/>
                <a:ea typeface="Garet"/>
                <a:cs typeface="Garet"/>
                <a:sym typeface="Garet"/>
              </a:rPr>
              <a:t> P[H(t)] from geometric arguments and simulation validation</a:t>
            </a:r>
          </a:p>
          <a:p>
            <a:pPr algn="just">
              <a:lnSpc>
                <a:spcPts val="379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7199367" y="323206"/>
            <a:ext cx="8821200" cy="160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b="true" sz="6806" spc="231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PROJECT SYSTEM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31016" y="-799650"/>
            <a:ext cx="4157869" cy="415786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84012" y="8405712"/>
            <a:ext cx="1340676" cy="134067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25637" y="2312787"/>
            <a:ext cx="11100886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patial Randomness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 PPP with density λ₀ gives void probability: P[no drone in A] = exp(-λ₀|A|)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03324" y="9258300"/>
            <a:ext cx="2681353" cy="268135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24656" y="794056"/>
            <a:ext cx="469288" cy="46928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827083" y="426510"/>
            <a:ext cx="13369873" cy="83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b="true" sz="6806" spc="231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SOURCES OF UNCERTAINTY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80467" y="2163499"/>
            <a:ext cx="1340676" cy="134067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77071" y="2606377"/>
            <a:ext cx="1147469" cy="60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0"/>
              </a:lnSpc>
            </a:pPr>
            <a:r>
              <a:rPr lang="en-US" sz="5022" spc="170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0</a:t>
            </a:r>
            <a:r>
              <a:rPr lang="en-US" sz="5022" spc="170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44208" y="3930415"/>
            <a:ext cx="11100886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D</a:t>
            </a: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irectional Randomness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 θ ~ U[0, 2π) creates isotropic movement patterns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680467" y="3716137"/>
            <a:ext cx="1340676" cy="134067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77071" y="4159015"/>
            <a:ext cx="1147469" cy="60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0"/>
              </a:lnSpc>
            </a:pPr>
            <a:r>
              <a:rPr lang="en-US" sz="5022" spc="170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02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80467" y="5342563"/>
            <a:ext cx="1340676" cy="134067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777071" y="5785441"/>
            <a:ext cx="1147469" cy="60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0"/>
              </a:lnSpc>
            </a:pPr>
            <a:r>
              <a:rPr lang="en-US" sz="5022" spc="170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44208" y="5466388"/>
            <a:ext cx="11100886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Sp</a:t>
            </a: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eed Randomness (DSM)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 V ~ Rayleigh or Uniform introduces heterogeneous velocities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680467" y="6904186"/>
            <a:ext cx="1340676" cy="1340676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777071" y="7347063"/>
            <a:ext cx="1147469" cy="60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0"/>
              </a:lnSpc>
            </a:pPr>
            <a:r>
              <a:rPr lang="en-US" sz="5022" spc="170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04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544208" y="7002362"/>
            <a:ext cx="11100886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G</a:t>
            </a: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eometric Randomness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 Minimum distance u*(t) evolves unpredictably due to combined uncertainties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5879464" y="8001164"/>
            <a:ext cx="1340676" cy="2149773"/>
          </a:xfrm>
          <a:custGeom>
            <a:avLst/>
            <a:gdLst/>
            <a:ahLst/>
            <a:cxnLst/>
            <a:rect r="r" b="b" t="t" l="l"/>
            <a:pathLst>
              <a:path h="2149773" w="1340676">
                <a:moveTo>
                  <a:pt x="0" y="2149772"/>
                </a:moveTo>
                <a:lnTo>
                  <a:pt x="1340676" y="2149772"/>
                </a:lnTo>
                <a:lnTo>
                  <a:pt x="1340676" y="0"/>
                </a:lnTo>
                <a:lnTo>
                  <a:pt x="0" y="0"/>
                </a:lnTo>
                <a:lnTo>
                  <a:pt x="0" y="21497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80365" y="-1363471"/>
            <a:ext cx="4157869" cy="41578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3262" y="8405712"/>
            <a:ext cx="1340676" cy="13406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03324" y="9258300"/>
            <a:ext cx="2681353" cy="268135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28827" y="1152787"/>
            <a:ext cx="469288" cy="46928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V="true">
            <a:off x="16931441" y="1622075"/>
            <a:ext cx="0" cy="5613751"/>
          </a:xfrm>
          <a:prstGeom prst="line">
            <a:avLst/>
          </a:prstGeom>
          <a:ln cap="flat" w="476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414F61">
                    <a:alpha val="10000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9371971" y="3051175"/>
            <a:ext cx="6647209" cy="5172836"/>
            <a:chOff x="0" y="0"/>
            <a:chExt cx="1029827" cy="8014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9827" cy="801408"/>
            </a:xfrm>
            <a:custGeom>
              <a:avLst/>
              <a:gdLst/>
              <a:ahLst/>
              <a:cxnLst/>
              <a:rect r="r" b="b" t="t" l="l"/>
              <a:pathLst>
                <a:path h="801408" w="1029827">
                  <a:moveTo>
                    <a:pt x="67552" y="0"/>
                  </a:moveTo>
                  <a:lnTo>
                    <a:pt x="962275" y="0"/>
                  </a:lnTo>
                  <a:cubicBezTo>
                    <a:pt x="999583" y="0"/>
                    <a:pt x="1029827" y="30244"/>
                    <a:pt x="1029827" y="67552"/>
                  </a:cubicBezTo>
                  <a:lnTo>
                    <a:pt x="1029827" y="733856"/>
                  </a:lnTo>
                  <a:cubicBezTo>
                    <a:pt x="1029827" y="771164"/>
                    <a:pt x="999583" y="801408"/>
                    <a:pt x="962275" y="801408"/>
                  </a:cubicBezTo>
                  <a:lnTo>
                    <a:pt x="67552" y="801408"/>
                  </a:lnTo>
                  <a:cubicBezTo>
                    <a:pt x="49636" y="801408"/>
                    <a:pt x="32454" y="794291"/>
                    <a:pt x="19785" y="781622"/>
                  </a:cubicBezTo>
                  <a:cubicBezTo>
                    <a:pt x="7117" y="768954"/>
                    <a:pt x="0" y="751772"/>
                    <a:pt x="0" y="733856"/>
                  </a:cubicBezTo>
                  <a:lnTo>
                    <a:pt x="0" y="67552"/>
                  </a:lnTo>
                  <a:cubicBezTo>
                    <a:pt x="0" y="49636"/>
                    <a:pt x="7117" y="32454"/>
                    <a:pt x="19785" y="19785"/>
                  </a:cubicBezTo>
                  <a:cubicBezTo>
                    <a:pt x="32454" y="7117"/>
                    <a:pt x="49636" y="0"/>
                    <a:pt x="67552" y="0"/>
                  </a:cubicBezTo>
                  <a:close/>
                </a:path>
              </a:pathLst>
            </a:custGeom>
            <a:blipFill>
              <a:blip r:embed="rId4"/>
              <a:stretch>
                <a:fillRect l="-8364" t="0" r="-8364" b="0"/>
              </a:stretch>
            </a:blipFill>
            <a:ln w="3810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414F61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385665" y="3051175"/>
            <a:ext cx="469288" cy="46928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  <a:ln w="123825" cap="sq">
              <a:solidFill>
                <a:srgbClr val="F3F8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385665" y="5909056"/>
            <a:ext cx="469288" cy="469288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  <a:ln w="123825" cap="sq">
              <a:solidFill>
                <a:srgbClr val="F3F8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3276630" y="2984500"/>
            <a:ext cx="5166766" cy="2781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2"/>
              </a:lnSpc>
            </a:pPr>
            <a:r>
              <a:rPr lang="en-US" b="true" sz="2100" spc="11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ΦD(0)</a:t>
            </a:r>
            <a:r>
              <a:rPr lang="en-US" b="true" sz="2100" spc="11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~ PPP(λ₀)</a:t>
            </a:r>
          </a:p>
          <a:p>
            <a:pPr algn="just">
              <a:lnSpc>
                <a:spcPts val="3192"/>
              </a:lnSpc>
            </a:pPr>
            <a:r>
              <a:rPr lang="en-US" sz="2100" spc="1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Nearest neighbor: f(r) = 2πλ₀r exp(-πλ₀r²) | F(r) = 1 - exp(-πλ₀r²)</a:t>
            </a:r>
          </a:p>
          <a:p>
            <a:pPr algn="just">
              <a:lnSpc>
                <a:spcPts val="3192"/>
              </a:lnSpc>
            </a:pPr>
          </a:p>
          <a:p>
            <a:pPr algn="just">
              <a:lnSpc>
                <a:spcPts val="3192"/>
              </a:lnSpc>
            </a:pPr>
            <a:r>
              <a:rPr lang="en-US" b="true" sz="2100" spc="11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θ ~ U[0, 2π)</a:t>
            </a:r>
          </a:p>
          <a:p>
            <a:pPr algn="just">
              <a:lnSpc>
                <a:spcPts val="3192"/>
              </a:lnSpc>
            </a:pPr>
            <a:r>
              <a:rPr lang="en-US" sz="2100" spc="1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f(θ) = 1/(2π) | F(θ) = θ/(2π)</a:t>
            </a:r>
          </a:p>
          <a:p>
            <a:pPr algn="just">
              <a:lnSpc>
                <a:spcPts val="3192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2385665" y="899344"/>
            <a:ext cx="14395514" cy="161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47"/>
              </a:lnSpc>
            </a:pPr>
            <a:r>
              <a:rPr lang="en-US" b="true" sz="6906" spc="234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KEY RANDOM VARIABLES WITH DISTRIBUTIONS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76630" y="5842381"/>
            <a:ext cx="5166766" cy="3181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2"/>
              </a:lnSpc>
            </a:pPr>
            <a:r>
              <a:rPr lang="en-US" b="true" sz="2100" spc="11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</a:t>
            </a:r>
            <a:r>
              <a:rPr lang="en-US" b="true" sz="2100" spc="11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~ Rayleigh (DSM)</a:t>
            </a:r>
          </a:p>
          <a:p>
            <a:pPr algn="just">
              <a:lnSpc>
                <a:spcPts val="3192"/>
              </a:lnSpc>
            </a:pPr>
            <a:r>
              <a:rPr lang="en-US" sz="2100" spc="1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f(v) = (v/σ²)exp(-v²/2σ²) | F(v) = 1 - exp(-v²/2σ²)</a:t>
            </a:r>
          </a:p>
          <a:p>
            <a:pPr algn="just">
              <a:lnSpc>
                <a:spcPts val="3192"/>
              </a:lnSpc>
            </a:pPr>
          </a:p>
          <a:p>
            <a:pPr algn="just">
              <a:lnSpc>
                <a:spcPts val="3192"/>
              </a:lnSpc>
            </a:pPr>
            <a:r>
              <a:rPr lang="en-US" b="true" sz="2100" spc="11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u(t)*</a:t>
            </a:r>
          </a:p>
          <a:p>
            <a:pPr algn="just">
              <a:lnSpc>
                <a:spcPts val="3192"/>
              </a:lnSpc>
            </a:pPr>
            <a:r>
              <a:rPr lang="en-US" sz="2100" spc="11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Distance to serving drone - time-dependent, computable for SSM</a:t>
            </a:r>
          </a:p>
          <a:p>
            <a:pPr algn="just">
              <a:lnSpc>
                <a:spcPts val="319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31016" y="-799650"/>
            <a:ext cx="4157869" cy="415786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84012" y="8405712"/>
            <a:ext cx="1340676" cy="134067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593557" y="2117312"/>
            <a:ext cx="11100886" cy="235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PPP for Positions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Tractable void probability formula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Displacement theorem preserves PPP structure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Models random deployment without clustering</a:t>
            </a:r>
          </a:p>
          <a:p>
            <a:pPr algn="just">
              <a:lnSpc>
                <a:spcPts val="379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03324" y="9258300"/>
            <a:ext cx="2681353" cy="268135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024656" y="794056"/>
            <a:ext cx="469288" cy="46928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827083" y="426510"/>
            <a:ext cx="13369873" cy="160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b="true" sz="6806" spc="231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PROBABILISTIC MODELS AND ASSUMPTIONS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24429" y="2193512"/>
            <a:ext cx="1340676" cy="134067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821032" y="2636390"/>
            <a:ext cx="1147469" cy="60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0"/>
              </a:lnSpc>
            </a:pPr>
            <a:r>
              <a:rPr lang="en-US" sz="5022" spc="170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0</a:t>
            </a:r>
            <a:r>
              <a:rPr lang="en-US" sz="5022" spc="170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88170" y="4549878"/>
            <a:ext cx="11100886" cy="235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Rayle</a:t>
            </a: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igh for Speed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Most drones near average speed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Extreme speeds are rare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Mathematically convenient</a:t>
            </a:r>
          </a:p>
          <a:p>
            <a:pPr algn="just">
              <a:lnSpc>
                <a:spcPts val="3799"/>
              </a:lnSpc>
            </a:pPr>
          </a:p>
        </p:txBody>
      </p:sp>
      <p:grpSp>
        <p:nvGrpSpPr>
          <p:cNvPr name="Group 24" id="24"/>
          <p:cNvGrpSpPr/>
          <p:nvPr/>
        </p:nvGrpSpPr>
        <p:grpSpPr>
          <a:xfrm rot="0">
            <a:off x="1724429" y="4523166"/>
            <a:ext cx="1340676" cy="134067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821032" y="4966044"/>
            <a:ext cx="1147469" cy="60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0"/>
              </a:lnSpc>
            </a:pPr>
            <a:r>
              <a:rPr lang="en-US" sz="5022" spc="170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02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724429" y="7140193"/>
            <a:ext cx="1340676" cy="1340676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821032" y="7583071"/>
            <a:ext cx="1147469" cy="607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0"/>
              </a:lnSpc>
            </a:pPr>
            <a:r>
              <a:rPr lang="en-US" sz="5022" spc="170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03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88170" y="6982445"/>
            <a:ext cx="11100886" cy="187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U</a:t>
            </a: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niform for Direction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No preferred direction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Ensures isotropy</a:t>
            </a:r>
          </a:p>
          <a:p>
            <a:pPr algn="just">
              <a:lnSpc>
                <a:spcPts val="37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5879464" y="8001164"/>
            <a:ext cx="1340676" cy="2149773"/>
          </a:xfrm>
          <a:custGeom>
            <a:avLst/>
            <a:gdLst/>
            <a:ahLst/>
            <a:cxnLst/>
            <a:rect r="r" b="b" t="t" l="l"/>
            <a:pathLst>
              <a:path h="2149773" w="1340676">
                <a:moveTo>
                  <a:pt x="0" y="2149772"/>
                </a:moveTo>
                <a:lnTo>
                  <a:pt x="1340676" y="2149772"/>
                </a:lnTo>
                <a:lnTo>
                  <a:pt x="1340676" y="0"/>
                </a:lnTo>
                <a:lnTo>
                  <a:pt x="0" y="0"/>
                </a:lnTo>
                <a:lnTo>
                  <a:pt x="0" y="21497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80365" y="-1363471"/>
            <a:ext cx="4157869" cy="41578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3262" y="8405712"/>
            <a:ext cx="1340676" cy="13406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03324" y="9258300"/>
            <a:ext cx="2681353" cy="268135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1546189" y="1622075"/>
            <a:ext cx="7838433" cy="7453976"/>
          </a:xfrm>
          <a:prstGeom prst="line">
            <a:avLst/>
          </a:prstGeom>
          <a:ln cap="flat" w="476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38495F">
                    <a:alpha val="100000"/>
                  </a:srgbClr>
                </a:gs>
              </a:gsLst>
              <a:lin ang="5400000"/>
            </a:gradFill>
            <a:prstDash val="solid"/>
            <a:headEnd type="oval" len="lg" w="lg"/>
            <a:tailEnd type="oval" len="lg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1128827" y="1152787"/>
            <a:ext cx="469288" cy="46928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6931441" y="1622075"/>
            <a:ext cx="0" cy="5613751"/>
          </a:xfrm>
          <a:prstGeom prst="line">
            <a:avLst/>
          </a:prstGeom>
          <a:ln cap="flat" w="476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414F61">
                    <a:alpha val="10000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grpSp>
        <p:nvGrpSpPr>
          <p:cNvPr name="Group 20" id="20"/>
          <p:cNvGrpSpPr/>
          <p:nvPr/>
        </p:nvGrpSpPr>
        <p:grpSpPr>
          <a:xfrm rot="0">
            <a:off x="2894400" y="2794398"/>
            <a:ext cx="12753900" cy="2215350"/>
            <a:chOff x="0" y="0"/>
            <a:chExt cx="3359052" cy="5834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59052" cy="583467"/>
            </a:xfrm>
            <a:custGeom>
              <a:avLst/>
              <a:gdLst/>
              <a:ahLst/>
              <a:cxnLst/>
              <a:rect r="r" b="b" t="t" l="l"/>
              <a:pathLst>
                <a:path h="583467" w="3359052">
                  <a:moveTo>
                    <a:pt x="42492" y="0"/>
                  </a:moveTo>
                  <a:lnTo>
                    <a:pt x="3316560" y="0"/>
                  </a:lnTo>
                  <a:cubicBezTo>
                    <a:pt x="3327829" y="0"/>
                    <a:pt x="3338637" y="4477"/>
                    <a:pt x="3346606" y="12446"/>
                  </a:cubicBezTo>
                  <a:cubicBezTo>
                    <a:pt x="3354575" y="20414"/>
                    <a:pt x="3359052" y="31222"/>
                    <a:pt x="3359052" y="42492"/>
                  </a:cubicBezTo>
                  <a:lnTo>
                    <a:pt x="3359052" y="540975"/>
                  </a:lnTo>
                  <a:cubicBezTo>
                    <a:pt x="3359052" y="552244"/>
                    <a:pt x="3354575" y="563052"/>
                    <a:pt x="3346606" y="571021"/>
                  </a:cubicBezTo>
                  <a:cubicBezTo>
                    <a:pt x="3338637" y="578990"/>
                    <a:pt x="3327829" y="583467"/>
                    <a:pt x="3316560" y="583467"/>
                  </a:cubicBezTo>
                  <a:lnTo>
                    <a:pt x="42492" y="583467"/>
                  </a:lnTo>
                  <a:cubicBezTo>
                    <a:pt x="19024" y="583467"/>
                    <a:pt x="0" y="564442"/>
                    <a:pt x="0" y="540975"/>
                  </a:cubicBezTo>
                  <a:lnTo>
                    <a:pt x="0" y="42492"/>
                  </a:lnTo>
                  <a:cubicBezTo>
                    <a:pt x="0" y="31222"/>
                    <a:pt x="4477" y="20414"/>
                    <a:pt x="12446" y="12446"/>
                  </a:cubicBezTo>
                  <a:cubicBezTo>
                    <a:pt x="20414" y="4477"/>
                    <a:pt x="31222" y="0"/>
                    <a:pt x="42492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359052" cy="621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true" flipV="false" rot="0">
            <a:off x="2487825" y="3494300"/>
            <a:ext cx="813150" cy="813150"/>
          </a:xfrm>
          <a:custGeom>
            <a:avLst/>
            <a:gdLst/>
            <a:ahLst/>
            <a:cxnLst/>
            <a:rect r="r" b="b" t="t" l="l"/>
            <a:pathLst>
              <a:path h="813150" w="813150">
                <a:moveTo>
                  <a:pt x="813150" y="0"/>
                </a:moveTo>
                <a:lnTo>
                  <a:pt x="0" y="0"/>
                </a:lnTo>
                <a:lnTo>
                  <a:pt x="0" y="813150"/>
                </a:lnTo>
                <a:lnTo>
                  <a:pt x="813150" y="813150"/>
                </a:lnTo>
                <a:lnTo>
                  <a:pt x="81315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375383" y="916580"/>
            <a:ext cx="7431566" cy="160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b="true" sz="6806" spc="231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PROBABILISTIC REASONING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34179" y="2862208"/>
            <a:ext cx="11100886" cy="235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Layer 1</a:t>
            </a:r>
            <a:r>
              <a:rPr lang="en-US" sz="2499" spc="142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 - Spatial Statistics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 PPP void probability → f(r) = 2πλ₀r exp(-πλ₀r²)</a:t>
            </a: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Layer 2 </a:t>
            </a:r>
            <a:r>
              <a:rPr lang="en-US" sz="2499" spc="142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- Temporal Evolution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 x(t) = x₀ + vt[cosθ, sinθ]</a:t>
            </a:r>
          </a:p>
          <a:p>
            <a:pPr algn="just">
              <a:lnSpc>
                <a:spcPts val="3799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2894400" y="5638398"/>
            <a:ext cx="12753900" cy="2215350"/>
            <a:chOff x="0" y="0"/>
            <a:chExt cx="3359052" cy="58346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359052" cy="583467"/>
            </a:xfrm>
            <a:custGeom>
              <a:avLst/>
              <a:gdLst/>
              <a:ahLst/>
              <a:cxnLst/>
              <a:rect r="r" b="b" t="t" l="l"/>
              <a:pathLst>
                <a:path h="583467" w="3359052">
                  <a:moveTo>
                    <a:pt x="42492" y="0"/>
                  </a:moveTo>
                  <a:lnTo>
                    <a:pt x="3316560" y="0"/>
                  </a:lnTo>
                  <a:cubicBezTo>
                    <a:pt x="3327829" y="0"/>
                    <a:pt x="3338637" y="4477"/>
                    <a:pt x="3346606" y="12446"/>
                  </a:cubicBezTo>
                  <a:cubicBezTo>
                    <a:pt x="3354575" y="20414"/>
                    <a:pt x="3359052" y="31222"/>
                    <a:pt x="3359052" y="42492"/>
                  </a:cubicBezTo>
                  <a:lnTo>
                    <a:pt x="3359052" y="540975"/>
                  </a:lnTo>
                  <a:cubicBezTo>
                    <a:pt x="3359052" y="552244"/>
                    <a:pt x="3354575" y="563052"/>
                    <a:pt x="3346606" y="571021"/>
                  </a:cubicBezTo>
                  <a:cubicBezTo>
                    <a:pt x="3338637" y="578990"/>
                    <a:pt x="3327829" y="583467"/>
                    <a:pt x="3316560" y="583467"/>
                  </a:cubicBezTo>
                  <a:lnTo>
                    <a:pt x="42492" y="583467"/>
                  </a:lnTo>
                  <a:cubicBezTo>
                    <a:pt x="19024" y="583467"/>
                    <a:pt x="0" y="564442"/>
                    <a:pt x="0" y="540975"/>
                  </a:cubicBezTo>
                  <a:lnTo>
                    <a:pt x="0" y="42492"/>
                  </a:lnTo>
                  <a:cubicBezTo>
                    <a:pt x="0" y="31222"/>
                    <a:pt x="4477" y="20414"/>
                    <a:pt x="12446" y="12446"/>
                  </a:cubicBezTo>
                  <a:cubicBezTo>
                    <a:pt x="20414" y="4477"/>
                    <a:pt x="31222" y="0"/>
                    <a:pt x="42492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3359052" cy="621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true" flipV="false" rot="0">
            <a:off x="2487825" y="6338300"/>
            <a:ext cx="813150" cy="813150"/>
          </a:xfrm>
          <a:custGeom>
            <a:avLst/>
            <a:gdLst/>
            <a:ahLst/>
            <a:cxnLst/>
            <a:rect r="r" b="b" t="t" l="l"/>
            <a:pathLst>
              <a:path h="813150" w="813150">
                <a:moveTo>
                  <a:pt x="813150" y="0"/>
                </a:moveTo>
                <a:lnTo>
                  <a:pt x="0" y="0"/>
                </a:lnTo>
                <a:lnTo>
                  <a:pt x="0" y="813150"/>
                </a:lnTo>
                <a:lnTo>
                  <a:pt x="813150" y="813150"/>
                </a:lnTo>
                <a:lnTo>
                  <a:pt x="81315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834179" y="5726677"/>
            <a:ext cx="11100886" cy="235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Layer 3</a:t>
            </a:r>
            <a:r>
              <a:rPr lang="en-US" sz="2499" spc="142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 - Event Probability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 Handover if new drone enters closer region</a:t>
            </a: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Layer 4</a:t>
            </a:r>
            <a:r>
              <a:rPr lang="en-US" sz="2499" spc="142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 - Integration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 Condition on (r, θ), integrate with proper densities</a:t>
            </a:r>
          </a:p>
          <a:p>
            <a:pPr algn="just">
              <a:lnSpc>
                <a:spcPts val="37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921156" y="8001164"/>
            <a:ext cx="1340676" cy="2149773"/>
          </a:xfrm>
          <a:custGeom>
            <a:avLst/>
            <a:gdLst/>
            <a:ahLst/>
            <a:cxnLst/>
            <a:rect r="r" b="b" t="t" l="l"/>
            <a:pathLst>
              <a:path h="2149773" w="1340676">
                <a:moveTo>
                  <a:pt x="0" y="2149772"/>
                </a:moveTo>
                <a:lnTo>
                  <a:pt x="1340676" y="2149772"/>
                </a:lnTo>
                <a:lnTo>
                  <a:pt x="1340676" y="0"/>
                </a:lnTo>
                <a:lnTo>
                  <a:pt x="0" y="0"/>
                </a:lnTo>
                <a:lnTo>
                  <a:pt x="0" y="21497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80365" y="-1363471"/>
            <a:ext cx="4157869" cy="41578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284012" y="8405712"/>
            <a:ext cx="1340676" cy="13406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63471" y="4288026"/>
            <a:ext cx="15176097" cy="2585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3340" indent="-246670" lvl="1">
              <a:lnSpc>
                <a:spcPts val="3473"/>
              </a:lnSpc>
              <a:buFont typeface="Arial"/>
              <a:buChar char="•"/>
            </a:pPr>
            <a:r>
              <a:rPr lang="en-US" b="true" sz="2285" spc="130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M</a:t>
            </a:r>
            <a:r>
              <a:rPr lang="en-US" b="true" sz="2285" spc="130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onte Carlo Simulation:</a:t>
            </a:r>
          </a:p>
          <a:p>
            <a:pPr algn="just" marL="493340" indent="-246670" lvl="1">
              <a:lnSpc>
                <a:spcPts val="3473"/>
              </a:lnSpc>
              <a:buFont typeface="Arial"/>
              <a:buChar char="•"/>
            </a:pPr>
            <a:r>
              <a:rPr lang="en-US" b="true" sz="2285" spc="130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Step 1</a:t>
            </a:r>
            <a:r>
              <a:rPr lang="en-US" sz="2285" spc="130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: Generate N ~ Poisson(λ₀ × area)</a:t>
            </a:r>
          </a:p>
          <a:p>
            <a:pPr algn="just" marL="493340" indent="-246670" lvl="1">
              <a:lnSpc>
                <a:spcPts val="3473"/>
              </a:lnSpc>
              <a:buFont typeface="Arial"/>
              <a:buChar char="•"/>
            </a:pPr>
            <a:r>
              <a:rPr lang="en-US" b="true" sz="2285" spc="130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Step 2</a:t>
            </a:r>
            <a:r>
              <a:rPr lang="en-US" sz="2285" spc="130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: Assign θᵢ ~ U[0,2π), vᵢ ~ fV(v)</a:t>
            </a:r>
          </a:p>
          <a:p>
            <a:pPr algn="just" marL="493340" indent="-246670" lvl="1">
              <a:lnSpc>
                <a:spcPts val="3473"/>
              </a:lnSpc>
              <a:buFont typeface="Arial"/>
              <a:buChar char="•"/>
            </a:pPr>
            <a:r>
              <a:rPr lang="en-US" b="true" sz="2285" spc="130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Step 3</a:t>
            </a:r>
            <a:r>
              <a:rPr lang="en-US" sz="2285" spc="130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: Update xᵢ(t) = xᵢ(0) + vᵢt[cosθᵢ, sinθᵢ]</a:t>
            </a:r>
          </a:p>
          <a:p>
            <a:pPr algn="just" marL="493340" indent="-246670" lvl="1">
              <a:lnSpc>
                <a:spcPts val="3473"/>
              </a:lnSpc>
              <a:buFont typeface="Arial"/>
              <a:buChar char="•"/>
            </a:pPr>
            <a:r>
              <a:rPr lang="en-US" b="true" sz="2285" spc="130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Step 4</a:t>
            </a:r>
            <a:r>
              <a:rPr lang="en-US" sz="2285" spc="130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: Track handover events</a:t>
            </a:r>
          </a:p>
          <a:p>
            <a:pPr algn="just" marL="493340" indent="-246670" lvl="1">
              <a:lnSpc>
                <a:spcPts val="3473"/>
              </a:lnSpc>
              <a:buFont typeface="Arial"/>
              <a:buChar char="•"/>
            </a:pPr>
            <a:r>
              <a:rPr lang="en-US" b="true" sz="2285" spc="130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Step 5</a:t>
            </a:r>
            <a:r>
              <a:rPr lang="en-US" sz="2285" spc="130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: P[H(t)] = (handover count) / (total trials)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03324" y="9258300"/>
            <a:ext cx="2681353" cy="268135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024656" y="794056"/>
            <a:ext cx="469288" cy="46928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734018" y="1656438"/>
            <a:ext cx="14912700" cy="160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b="true" sz="6806" spc="231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OPERATIONALIZING - SIMULATION &amp; VALI</a:t>
            </a:r>
            <a:r>
              <a:rPr lang="en-US" b="true" sz="6806" spc="231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DATION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5879464" y="8001164"/>
            <a:ext cx="1340676" cy="2149773"/>
          </a:xfrm>
          <a:custGeom>
            <a:avLst/>
            <a:gdLst/>
            <a:ahLst/>
            <a:cxnLst/>
            <a:rect r="r" b="b" t="t" l="l"/>
            <a:pathLst>
              <a:path h="2149773" w="1340676">
                <a:moveTo>
                  <a:pt x="0" y="2149772"/>
                </a:moveTo>
                <a:lnTo>
                  <a:pt x="1340676" y="2149772"/>
                </a:lnTo>
                <a:lnTo>
                  <a:pt x="1340676" y="0"/>
                </a:lnTo>
                <a:lnTo>
                  <a:pt x="0" y="0"/>
                </a:lnTo>
                <a:lnTo>
                  <a:pt x="0" y="21497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80365" y="-1363471"/>
            <a:ext cx="4157869" cy="41578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3262" y="8405712"/>
            <a:ext cx="1340676" cy="13406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03324" y="9258300"/>
            <a:ext cx="2681353" cy="268135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1546189" y="1622075"/>
            <a:ext cx="2150386" cy="7453976"/>
          </a:xfrm>
          <a:prstGeom prst="line">
            <a:avLst/>
          </a:prstGeom>
          <a:ln cap="flat" w="476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38495F">
                    <a:alpha val="100000"/>
                  </a:srgbClr>
                </a:gs>
              </a:gsLst>
              <a:lin ang="5400000"/>
            </a:gradFill>
            <a:prstDash val="solid"/>
            <a:headEnd type="oval" len="lg" w="lg"/>
            <a:tailEnd type="oval" len="lg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1128827" y="1152787"/>
            <a:ext cx="469288" cy="46928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6931441" y="1622075"/>
            <a:ext cx="0" cy="5613751"/>
          </a:xfrm>
          <a:prstGeom prst="line">
            <a:avLst/>
          </a:prstGeom>
          <a:ln cap="flat" w="476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414F61">
                    <a:alpha val="10000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3858500" y="916580"/>
            <a:ext cx="12024385" cy="160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b="true" sz="6806" spc="231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CURRENT UNDERSTANDING GAPS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06654" y="3413760"/>
            <a:ext cx="4478831" cy="458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Mathematical Details:</a:t>
            </a:r>
          </a:p>
          <a:p>
            <a:pPr algn="ctr">
              <a:lnSpc>
                <a:spcPts val="3359"/>
              </a:lnSpc>
            </a:pPr>
          </a:p>
          <a:p>
            <a:pPr algn="ctr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Exact derivation of Lemma 3 density f</a:t>
            </a: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ormula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  <a:p>
            <a:pPr algn="ctr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Numerical evaluation of Theorem 2 integrals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  <a:p>
            <a:pPr algn="ctr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Full proof of Lemma 2 (once-leaving property)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904585" y="3413760"/>
            <a:ext cx="4478831" cy="584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Conceptual Questions:</a:t>
            </a:r>
          </a:p>
          <a:p>
            <a:pPr algn="ctr">
              <a:lnSpc>
                <a:spcPts val="3359"/>
              </a:lnSpc>
            </a:pPr>
          </a:p>
          <a:p>
            <a:pPr algn="ctr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Why e</a:t>
            </a: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xactly does DSM &lt; SSM intuitively?</a:t>
            </a:r>
          </a:p>
          <a:p>
            <a:pPr algn="ctr">
              <a:lnSpc>
                <a:spcPts val="3359"/>
              </a:lnSpc>
            </a:pPr>
          </a:p>
          <a:p>
            <a:pPr algn="ctr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How tight is the DSM lower b</a:t>
            </a: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ound quantitatively?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  <a:p>
            <a:pPr algn="ctr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Sensitivity to distribution choice (Rayleigh vs Uniform)?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1802515" y="3413760"/>
            <a:ext cx="4478831" cy="3749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399" b="true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Extensions Needed:</a:t>
            </a:r>
          </a:p>
          <a:p>
            <a:pPr algn="ctr">
              <a:lnSpc>
                <a:spcPts val="3359"/>
              </a:lnSpc>
            </a:pPr>
          </a:p>
          <a:p>
            <a:pPr algn="ctr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Differen</a:t>
            </a: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t drone heights</a:t>
            </a:r>
          </a:p>
          <a:p>
            <a:pPr algn="ctr">
              <a:lnSpc>
                <a:spcPts val="3359"/>
              </a:lnSpc>
            </a:pPr>
          </a:p>
          <a:p>
            <a:pPr algn="ctr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Ra</a:t>
            </a: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ndom waypoint mobility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  <a:p>
            <a:pPr algn="ctr" marL="518157" indent="-259078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399">
                <a:solidFill>
                  <a:srgbClr val="F3F8FF"/>
                </a:solidFill>
                <a:latin typeface="Garet"/>
                <a:ea typeface="Garet"/>
                <a:cs typeface="Garet"/>
                <a:sym typeface="Garet"/>
              </a:rPr>
              <a:t>Mobile users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80365" y="-1363471"/>
            <a:ext cx="4157869" cy="415786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284012" y="8405712"/>
            <a:ext cx="1340676" cy="134067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03324" y="9258300"/>
            <a:ext cx="2681353" cy="268135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024656" y="794056"/>
            <a:ext cx="469288" cy="46928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552483" y="905964"/>
            <a:ext cx="12501681" cy="160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b="true" sz="6806" spc="231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PL</a:t>
            </a:r>
            <a:r>
              <a:rPr lang="en-US" b="true" sz="6806" spc="231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ANNED REFINEMENTS FOR M3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30480" y="2523726"/>
            <a:ext cx="13449886" cy="759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01 -</a:t>
            </a: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 Simulation Deep Dive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Understand Monte Carlo convergence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Study confidence intervals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Validate PDF/CDF plots match theory</a:t>
            </a:r>
          </a:p>
          <a:p>
            <a:pPr algn="just">
              <a:lnSpc>
                <a:spcPts val="3799"/>
              </a:lnSpc>
            </a:pP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02 - Mathematical Validation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Verify all distribution derivations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Check formula interpretations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Ensure parameter choices are justified</a:t>
            </a:r>
          </a:p>
          <a:p>
            <a:pPr algn="just" marL="539749" indent="-269875" lvl="1">
              <a:lnSpc>
                <a:spcPts val="3799"/>
              </a:lnSpc>
              <a:buFont typeface="Arial"/>
              <a:buChar char="•"/>
            </a:pP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03 - Team Coordination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 Everyone: Study simulation structure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 Scribe: Document derivations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 Reviewer: Verify analytical vs simulation match</a:t>
            </a:r>
          </a:p>
          <a:p>
            <a:pPr algn="just">
              <a:lnSpc>
                <a:spcPts val="3799"/>
              </a:lnSpc>
            </a:pPr>
            <a:r>
              <a:rPr lang="en-US" sz="2499" spc="142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 GitHub: Organize plots and code</a:t>
            </a:r>
          </a:p>
          <a:p>
            <a:pPr algn="just">
              <a:lnSpc>
                <a:spcPts val="379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49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5879464" y="8001164"/>
            <a:ext cx="1340676" cy="2149773"/>
          </a:xfrm>
          <a:custGeom>
            <a:avLst/>
            <a:gdLst/>
            <a:ahLst/>
            <a:cxnLst/>
            <a:rect r="r" b="b" t="t" l="l"/>
            <a:pathLst>
              <a:path h="2149773" w="1340676">
                <a:moveTo>
                  <a:pt x="0" y="2149772"/>
                </a:moveTo>
                <a:lnTo>
                  <a:pt x="1340676" y="2149772"/>
                </a:lnTo>
                <a:lnTo>
                  <a:pt x="1340676" y="0"/>
                </a:lnTo>
                <a:lnTo>
                  <a:pt x="0" y="0"/>
                </a:lnTo>
                <a:lnTo>
                  <a:pt x="0" y="21497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180365" y="-1363471"/>
            <a:ext cx="4157869" cy="41578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33262" y="8405712"/>
            <a:ext cx="1340676" cy="13406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03324" y="9258300"/>
            <a:ext cx="2681353" cy="268135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28827" y="1152787"/>
            <a:ext cx="469288" cy="46928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V="true">
            <a:off x="16931441" y="1622075"/>
            <a:ext cx="0" cy="5613751"/>
          </a:xfrm>
          <a:prstGeom prst="line">
            <a:avLst/>
          </a:prstGeom>
          <a:ln cap="flat" w="47625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414F61">
                    <a:alpha val="100000"/>
                  </a:srgbClr>
                </a:gs>
              </a:gsLst>
              <a:lin ang="0"/>
            </a:gradFill>
            <a:prstDash val="solid"/>
            <a:headEnd type="oval" len="lg" w="lg"/>
            <a:tailEnd type="oval" len="lg" w="lg"/>
          </a:ln>
        </p:spPr>
      </p:sp>
      <p:grpSp>
        <p:nvGrpSpPr>
          <p:cNvPr name="Group 19" id="19"/>
          <p:cNvGrpSpPr/>
          <p:nvPr/>
        </p:nvGrpSpPr>
        <p:grpSpPr>
          <a:xfrm rot="0">
            <a:off x="2894400" y="2165748"/>
            <a:ext cx="12753900" cy="2215350"/>
            <a:chOff x="0" y="0"/>
            <a:chExt cx="3359052" cy="5834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59052" cy="583467"/>
            </a:xfrm>
            <a:custGeom>
              <a:avLst/>
              <a:gdLst/>
              <a:ahLst/>
              <a:cxnLst/>
              <a:rect r="r" b="b" t="t" l="l"/>
              <a:pathLst>
                <a:path h="583467" w="3359052">
                  <a:moveTo>
                    <a:pt x="42492" y="0"/>
                  </a:moveTo>
                  <a:lnTo>
                    <a:pt x="3316560" y="0"/>
                  </a:lnTo>
                  <a:cubicBezTo>
                    <a:pt x="3327829" y="0"/>
                    <a:pt x="3338637" y="4477"/>
                    <a:pt x="3346606" y="12446"/>
                  </a:cubicBezTo>
                  <a:cubicBezTo>
                    <a:pt x="3354575" y="20414"/>
                    <a:pt x="3359052" y="31222"/>
                    <a:pt x="3359052" y="42492"/>
                  </a:cubicBezTo>
                  <a:lnTo>
                    <a:pt x="3359052" y="540975"/>
                  </a:lnTo>
                  <a:cubicBezTo>
                    <a:pt x="3359052" y="552244"/>
                    <a:pt x="3354575" y="563052"/>
                    <a:pt x="3346606" y="571021"/>
                  </a:cubicBezTo>
                  <a:cubicBezTo>
                    <a:pt x="3338637" y="578990"/>
                    <a:pt x="3327829" y="583467"/>
                    <a:pt x="3316560" y="583467"/>
                  </a:cubicBezTo>
                  <a:lnTo>
                    <a:pt x="42492" y="583467"/>
                  </a:lnTo>
                  <a:cubicBezTo>
                    <a:pt x="19024" y="583467"/>
                    <a:pt x="0" y="564442"/>
                    <a:pt x="0" y="540975"/>
                  </a:cubicBezTo>
                  <a:lnTo>
                    <a:pt x="0" y="42492"/>
                  </a:lnTo>
                  <a:cubicBezTo>
                    <a:pt x="0" y="31222"/>
                    <a:pt x="4477" y="20414"/>
                    <a:pt x="12446" y="12446"/>
                  </a:cubicBezTo>
                  <a:cubicBezTo>
                    <a:pt x="20414" y="4477"/>
                    <a:pt x="31222" y="0"/>
                    <a:pt x="42492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359052" cy="621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true" flipV="false" rot="0">
            <a:off x="2487825" y="2865650"/>
            <a:ext cx="813150" cy="813150"/>
          </a:xfrm>
          <a:custGeom>
            <a:avLst/>
            <a:gdLst/>
            <a:ahLst/>
            <a:cxnLst/>
            <a:rect r="r" b="b" t="t" l="l"/>
            <a:pathLst>
              <a:path h="813150" w="813150">
                <a:moveTo>
                  <a:pt x="813150" y="0"/>
                </a:moveTo>
                <a:lnTo>
                  <a:pt x="0" y="0"/>
                </a:lnTo>
                <a:lnTo>
                  <a:pt x="0" y="813150"/>
                </a:lnTo>
                <a:lnTo>
                  <a:pt x="813150" y="813150"/>
                </a:lnTo>
                <a:lnTo>
                  <a:pt x="81315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4643113" y="447292"/>
            <a:ext cx="8984873" cy="1601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b="true" sz="6806" spc="231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SUMMARY OF M2 UNDERSTANDING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34179" y="2434823"/>
            <a:ext cx="11100886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M</a:t>
            </a: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1: "PPP means random positions"</a:t>
            </a: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M2: PPP has void probability exp(-λ₀|A|) giving f(r) = 2πλ₀r exp(-πλ₀r²)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894400" y="4694760"/>
            <a:ext cx="12753900" cy="2215350"/>
            <a:chOff x="0" y="0"/>
            <a:chExt cx="3359052" cy="5834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359052" cy="583467"/>
            </a:xfrm>
            <a:custGeom>
              <a:avLst/>
              <a:gdLst/>
              <a:ahLst/>
              <a:cxnLst/>
              <a:rect r="r" b="b" t="t" l="l"/>
              <a:pathLst>
                <a:path h="583467" w="3359052">
                  <a:moveTo>
                    <a:pt x="42492" y="0"/>
                  </a:moveTo>
                  <a:lnTo>
                    <a:pt x="3316560" y="0"/>
                  </a:lnTo>
                  <a:cubicBezTo>
                    <a:pt x="3327829" y="0"/>
                    <a:pt x="3338637" y="4477"/>
                    <a:pt x="3346606" y="12446"/>
                  </a:cubicBezTo>
                  <a:cubicBezTo>
                    <a:pt x="3354575" y="20414"/>
                    <a:pt x="3359052" y="31222"/>
                    <a:pt x="3359052" y="42492"/>
                  </a:cubicBezTo>
                  <a:lnTo>
                    <a:pt x="3359052" y="540975"/>
                  </a:lnTo>
                  <a:cubicBezTo>
                    <a:pt x="3359052" y="552244"/>
                    <a:pt x="3354575" y="563052"/>
                    <a:pt x="3346606" y="571021"/>
                  </a:cubicBezTo>
                  <a:cubicBezTo>
                    <a:pt x="3338637" y="578990"/>
                    <a:pt x="3327829" y="583467"/>
                    <a:pt x="3316560" y="583467"/>
                  </a:cubicBezTo>
                  <a:lnTo>
                    <a:pt x="42492" y="583467"/>
                  </a:lnTo>
                  <a:cubicBezTo>
                    <a:pt x="19024" y="583467"/>
                    <a:pt x="0" y="564442"/>
                    <a:pt x="0" y="540975"/>
                  </a:cubicBezTo>
                  <a:lnTo>
                    <a:pt x="0" y="42492"/>
                  </a:lnTo>
                  <a:cubicBezTo>
                    <a:pt x="0" y="31222"/>
                    <a:pt x="4477" y="20414"/>
                    <a:pt x="12446" y="12446"/>
                  </a:cubicBezTo>
                  <a:cubicBezTo>
                    <a:pt x="20414" y="4477"/>
                    <a:pt x="31222" y="0"/>
                    <a:pt x="42492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359052" cy="621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true" flipV="false" rot="0">
            <a:off x="2487825" y="5394661"/>
            <a:ext cx="813150" cy="813150"/>
          </a:xfrm>
          <a:custGeom>
            <a:avLst/>
            <a:gdLst/>
            <a:ahLst/>
            <a:cxnLst/>
            <a:rect r="r" b="b" t="t" l="l"/>
            <a:pathLst>
              <a:path h="813150" w="813150">
                <a:moveTo>
                  <a:pt x="813150" y="0"/>
                </a:moveTo>
                <a:lnTo>
                  <a:pt x="0" y="0"/>
                </a:lnTo>
                <a:lnTo>
                  <a:pt x="0" y="813150"/>
                </a:lnTo>
                <a:lnTo>
                  <a:pt x="813150" y="813150"/>
                </a:lnTo>
                <a:lnTo>
                  <a:pt x="81315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834179" y="4783038"/>
            <a:ext cx="11100886" cy="235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M1: "Th</a:t>
            </a: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eorem 1 equivalence is clever"</a:t>
            </a: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M2: Works via PPP translation invariance - relative motion is what matters</a:t>
            </a:r>
          </a:p>
          <a:p>
            <a:pPr algn="just">
              <a:lnSpc>
                <a:spcPts val="3799"/>
              </a:lnSpc>
            </a:pPr>
          </a:p>
          <a:p>
            <a:pPr algn="just">
              <a:lnSpc>
                <a:spcPts val="3799"/>
              </a:lnSpc>
            </a:pPr>
          </a:p>
        </p:txBody>
      </p:sp>
      <p:grpSp>
        <p:nvGrpSpPr>
          <p:cNvPr name="Group 30" id="30"/>
          <p:cNvGrpSpPr/>
          <p:nvPr/>
        </p:nvGrpSpPr>
        <p:grpSpPr>
          <a:xfrm rot="0">
            <a:off x="2961888" y="7183647"/>
            <a:ext cx="12753900" cy="2215350"/>
            <a:chOff x="0" y="0"/>
            <a:chExt cx="3359052" cy="5834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59052" cy="583467"/>
            </a:xfrm>
            <a:custGeom>
              <a:avLst/>
              <a:gdLst/>
              <a:ahLst/>
              <a:cxnLst/>
              <a:rect r="r" b="b" t="t" l="l"/>
              <a:pathLst>
                <a:path h="583467" w="3359052">
                  <a:moveTo>
                    <a:pt x="42492" y="0"/>
                  </a:moveTo>
                  <a:lnTo>
                    <a:pt x="3316560" y="0"/>
                  </a:lnTo>
                  <a:cubicBezTo>
                    <a:pt x="3327829" y="0"/>
                    <a:pt x="3338637" y="4477"/>
                    <a:pt x="3346606" y="12446"/>
                  </a:cubicBezTo>
                  <a:cubicBezTo>
                    <a:pt x="3354575" y="20414"/>
                    <a:pt x="3359052" y="31222"/>
                    <a:pt x="3359052" y="42492"/>
                  </a:cubicBezTo>
                  <a:lnTo>
                    <a:pt x="3359052" y="540975"/>
                  </a:lnTo>
                  <a:cubicBezTo>
                    <a:pt x="3359052" y="552244"/>
                    <a:pt x="3354575" y="563052"/>
                    <a:pt x="3346606" y="571021"/>
                  </a:cubicBezTo>
                  <a:cubicBezTo>
                    <a:pt x="3338637" y="578990"/>
                    <a:pt x="3327829" y="583467"/>
                    <a:pt x="3316560" y="583467"/>
                  </a:cubicBezTo>
                  <a:lnTo>
                    <a:pt x="42492" y="583467"/>
                  </a:lnTo>
                  <a:cubicBezTo>
                    <a:pt x="19024" y="583467"/>
                    <a:pt x="0" y="564442"/>
                    <a:pt x="0" y="540975"/>
                  </a:cubicBezTo>
                  <a:lnTo>
                    <a:pt x="0" y="42492"/>
                  </a:lnTo>
                  <a:cubicBezTo>
                    <a:pt x="0" y="31222"/>
                    <a:pt x="4477" y="20414"/>
                    <a:pt x="12446" y="12446"/>
                  </a:cubicBezTo>
                  <a:cubicBezTo>
                    <a:pt x="20414" y="4477"/>
                    <a:pt x="31222" y="0"/>
                    <a:pt x="42492" y="0"/>
                  </a:cubicBezTo>
                  <a:close/>
                </a:path>
              </a:pathLst>
            </a:custGeom>
            <a:solidFill>
              <a:srgbClr val="40536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3359052" cy="621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true" flipV="false" rot="0">
            <a:off x="2555312" y="7883549"/>
            <a:ext cx="813150" cy="813150"/>
          </a:xfrm>
          <a:custGeom>
            <a:avLst/>
            <a:gdLst/>
            <a:ahLst/>
            <a:cxnLst/>
            <a:rect r="r" b="b" t="t" l="l"/>
            <a:pathLst>
              <a:path h="813150" w="813150">
                <a:moveTo>
                  <a:pt x="813151" y="0"/>
                </a:moveTo>
                <a:lnTo>
                  <a:pt x="0" y="0"/>
                </a:lnTo>
                <a:lnTo>
                  <a:pt x="0" y="813150"/>
                </a:lnTo>
                <a:lnTo>
                  <a:pt x="813151" y="813150"/>
                </a:lnTo>
                <a:lnTo>
                  <a:pt x="81315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901666" y="7271926"/>
            <a:ext cx="11100886" cy="140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M1: "DSM can't g</a:t>
            </a: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et exact answer"</a:t>
            </a:r>
          </a:p>
          <a:p>
            <a:pPr algn="just">
              <a:lnSpc>
                <a:spcPts val="3799"/>
              </a:lnSpc>
            </a:pPr>
            <a:r>
              <a:rPr lang="en-US" b="true" sz="2499" spc="142">
                <a:solidFill>
                  <a:srgbClr val="F3F8FF"/>
                </a:solidFill>
                <a:latin typeface="Garet Bold"/>
                <a:ea typeface="Garet Bold"/>
                <a:cs typeface="Garet Bold"/>
                <a:sym typeface="Garet Bold"/>
              </a:rPr>
              <a:t>M2: Different speeds break similarity transformation; Jensen's inequality explains direction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921156" y="8001164"/>
            <a:ext cx="1340676" cy="2149773"/>
          </a:xfrm>
          <a:custGeom>
            <a:avLst/>
            <a:gdLst/>
            <a:ahLst/>
            <a:cxnLst/>
            <a:rect r="r" b="b" t="t" l="l"/>
            <a:pathLst>
              <a:path h="2149773" w="1340676">
                <a:moveTo>
                  <a:pt x="0" y="2149772"/>
                </a:moveTo>
                <a:lnTo>
                  <a:pt x="1340676" y="2149772"/>
                </a:lnTo>
                <a:lnTo>
                  <a:pt x="1340676" y="0"/>
                </a:lnTo>
                <a:lnTo>
                  <a:pt x="0" y="0"/>
                </a:lnTo>
                <a:lnTo>
                  <a:pt x="0" y="21497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49931" y="-3645304"/>
            <a:ext cx="10870014" cy="1087001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284012" y="8405712"/>
            <a:ext cx="1340676" cy="134067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63471" y="-1363471"/>
            <a:ext cx="2726942" cy="27269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12789" y="7849858"/>
            <a:ext cx="4874283" cy="487428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8495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 flipH="true" flipV="true">
            <a:off x="1694629" y="1516263"/>
            <a:ext cx="15259721" cy="7559787"/>
          </a:xfrm>
          <a:prstGeom prst="line">
            <a:avLst/>
          </a:prstGeom>
          <a:ln cap="flat" w="47625">
            <a:solidFill>
              <a:srgbClr val="40536B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17024656" y="794056"/>
            <a:ext cx="469288" cy="46928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8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94629" y="5572125"/>
            <a:ext cx="6280609" cy="180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b="true" sz="14652" spc="498">
                <a:solidFill>
                  <a:srgbClr val="38495F"/>
                </a:solidFill>
                <a:latin typeface="Garet Bold"/>
                <a:ea typeface="Garet Bold"/>
                <a:cs typeface="Garet Bold"/>
                <a:sym typeface="Garet Bold"/>
              </a:rPr>
              <a:t>YOU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94629" y="3669421"/>
            <a:ext cx="8865934" cy="1798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040"/>
              </a:lnSpc>
            </a:pPr>
            <a:r>
              <a:rPr lang="en-US" sz="14652" spc="498">
                <a:solidFill>
                  <a:srgbClr val="38495F"/>
                </a:solidFill>
                <a:latin typeface="Garet"/>
                <a:ea typeface="Garet"/>
                <a:cs typeface="Garet"/>
                <a:sym typeface="Garet"/>
              </a:rPr>
              <a:t>THANK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DAHBvjPCY_E</dc:identifier>
  <dcterms:modified xsi:type="dcterms:W3CDTF">2011-08-01T06:04:30Z</dcterms:modified>
  <cp:revision>1</cp:revision>
  <dc:title>Dark Blue and White Simple Minimalist Project Presentation</dc:title>
</cp:coreProperties>
</file>